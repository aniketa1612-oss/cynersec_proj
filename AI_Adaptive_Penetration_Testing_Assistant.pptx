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yebrow">
            <a:extLst>
              <a:ext uri="{FF2B5EF4-FFF2-40B4-BE49-F238E27FC236}">
                <a16:creationId xmlns:a16="http://schemas.microsoft.com/office/drawing/2014/main" id="{8A623031-B773-4A00-812D-A3690CB138FD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BCSE410L · CYBER SECURITY PROJECT</a:t>
            </a:r>
          </a:p>
        </p:txBody>
      </p:sp>
      <p:sp>
        <p:nvSpPr>
          <p:cNvPr id="2" name="cover-title">
            <a:extLst>
              <a:ext uri="{FF2B5EF4-FFF2-40B4-BE49-F238E27FC236}">
                <a16:creationId xmlns:a16="http://schemas.microsoft.com/office/drawing/2014/main" id="{2C8AEB7D-9601-4EC3-8D84-E9DC48669860}"/>
              </a:ext>
            </a:extLst>
          </p:cNvPr>
          <p:cNvSpPr>
            <a:spLocks noGrp="1"/>
          </p:cNvSpPr>
          <p:nvPr/>
        </p:nvSpPr>
        <p:spPr>
          <a:xfrm>
            <a:off x="400050" y="1619250"/>
            <a:ext cx="9810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45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AI-Based Adaptive</a:t>
            </a:r>
          </a:p>
          <a:p>
            <a:pPr algn="l">
              <a:defRPr sz="45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Penetration Testing Assistant</a:t>
            </a:r>
          </a:p>
        </p:txBody>
      </p:sp>
      <p:sp>
        <p:nvSpPr>
          <p:cNvPr id="3" name="cover-subtitle">
            <a:extLst>
              <a:ext uri="{FF2B5EF4-FFF2-40B4-BE49-F238E27FC236}">
                <a16:creationId xmlns:a16="http://schemas.microsoft.com/office/drawing/2014/main" id="{261947A8-3EA8-4E15-B610-9DC41573BD47}"/>
              </a:ext>
            </a:extLst>
          </p:cNvPr>
          <p:cNvSpPr>
            <a:spLocks noGrp="1"/>
          </p:cNvSpPr>
          <p:nvPr/>
        </p:nvSpPr>
        <p:spPr>
          <a:xfrm>
            <a:off x="400050" y="4095750"/>
            <a:ext cx="7239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1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Intelligent vulnerability assessment and risk prioritization</a:t>
            </a:r>
          </a:p>
        </p:txBody>
      </p:sp>
      <p:sp>
        <p:nvSpPr>
          <p:cNvPr id="4" name="cover-accent">
            <a:extLst>
              <a:ext uri="{FF2B5EF4-FFF2-40B4-BE49-F238E27FC236}">
                <a16:creationId xmlns:a16="http://schemas.microsoft.com/office/drawing/2014/main" id="{33CD5CB1-E36C-440F-AAA1-1CAEFF88BC08}"/>
              </a:ext>
            </a:extLst>
          </p:cNvPr>
          <p:cNvSpPr>
            <a:spLocks noGrp="1"/>
          </p:cNvSpPr>
          <p:nvPr/>
        </p:nvSpPr>
        <p:spPr>
          <a:xfrm>
            <a:off x="400050" y="5191125"/>
            <a:ext cx="11391900" cy="95250"/>
          </a:xfrm>
          <a:prstGeom prst="roundRect">
            <a:avLst>
              <a:gd name="adj" fmla="val 50000"/>
            </a:avLst>
          </a:prstGeom>
          <a:solidFill>
            <a:srgbClr val="6DCBF4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cope">
            <a:extLst>
              <a:ext uri="{FF2B5EF4-FFF2-40B4-BE49-F238E27FC236}">
                <a16:creationId xmlns:a16="http://schemas.microsoft.com/office/drawing/2014/main" id="{0CB25B3C-5B8A-4A65-81DD-2E45DBB03071}"/>
              </a:ext>
            </a:extLst>
          </p:cNvPr>
          <p:cNvSpPr>
            <a:spLocks noGrp="1"/>
          </p:cNvSpPr>
          <p:nvPr/>
        </p:nvSpPr>
        <p:spPr>
          <a:xfrm>
            <a:off x="400050" y="5524500"/>
            <a:ext cx="666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246"/>
          </a:bodyPr>
          <a:lstStyle/>
          <a:p>
            <a:pPr algn="l">
              <a:defRPr sz="14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For authorized security testing environments only</a:t>
            </a:r>
          </a:p>
        </p:txBody>
      </p:sp>
    </p:spTree>
    <p:extLst>
      <p:ext uri="{BB962C8B-B14F-4D97-AF65-F5344CB8AC3E}">
        <p14:creationId xmlns:p14="http://schemas.microsoft.com/office/powerpoint/2010/main" val="343729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-2">
            <a:extLst>
              <a:ext uri="{FF2B5EF4-FFF2-40B4-BE49-F238E27FC236}">
                <a16:creationId xmlns:a16="http://schemas.microsoft.com/office/drawing/2014/main" id="{7297D800-145A-4CD9-8A11-AADDADABC26E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783"/>
          </a:bodyPr>
          <a:lstStyle/>
          <a:p>
            <a:pPr algn="l">
              <a:defRPr sz="28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Frequent testing is necessary, but manual analysis does not scale</a:t>
            </a:r>
          </a:p>
        </p:txBody>
      </p:sp>
      <p:sp>
        <p:nvSpPr>
          <p:cNvPr id="2" name="page-2">
            <a:extLst>
              <a:ext uri="{FF2B5EF4-FFF2-40B4-BE49-F238E27FC236}">
                <a16:creationId xmlns:a16="http://schemas.microsoft.com/office/drawing/2014/main" id="{29C7F786-8BAC-4F53-B01A-BEAB28DEA7A3}"/>
              </a:ext>
            </a:extLst>
          </p:cNvPr>
          <p:cNvSpPr>
            <a:spLocks noGrp="1"/>
          </p:cNvSpPr>
          <p:nvPr/>
        </p:nvSpPr>
        <p:spPr>
          <a:xfrm>
            <a:off x="11239500" y="6305550"/>
            <a:ext cx="52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r"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intro-lead">
            <a:extLst>
              <a:ext uri="{FF2B5EF4-FFF2-40B4-BE49-F238E27FC236}">
                <a16:creationId xmlns:a16="http://schemas.microsoft.com/office/drawing/2014/main" id="{5B7BAFDC-490A-421F-9724-DCC40345D6DF}"/>
              </a:ext>
            </a:extLst>
          </p:cNvPr>
          <p:cNvSpPr>
            <a:spLocks noGrp="1"/>
          </p:cNvSpPr>
          <p:nvPr/>
        </p:nvSpPr>
        <p:spPr>
          <a:xfrm>
            <a:off x="400050" y="1190625"/>
            <a:ext cx="10858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Security teams must turn large scan outputs into a small number of safe, high-value actions.</a:t>
            </a:r>
          </a:p>
        </p:txBody>
      </p:sp>
      <p:sp>
        <p:nvSpPr>
          <p:cNvPr id="4" name="num-0">
            <a:extLst>
              <a:ext uri="{FF2B5EF4-FFF2-40B4-BE49-F238E27FC236}">
                <a16:creationId xmlns:a16="http://schemas.microsoft.com/office/drawing/2014/main" id="{F8B43397-98D5-4E18-B63D-D1DC2D054A3D}"/>
              </a:ext>
            </a:extLst>
          </p:cNvPr>
          <p:cNvSpPr>
            <a:spLocks noGrp="1"/>
          </p:cNvSpPr>
          <p:nvPr/>
        </p:nvSpPr>
        <p:spPr>
          <a:xfrm>
            <a:off x="428625" y="2143125"/>
            <a:ext cx="571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head-0">
            <a:extLst>
              <a:ext uri="{FF2B5EF4-FFF2-40B4-BE49-F238E27FC236}">
                <a16:creationId xmlns:a16="http://schemas.microsoft.com/office/drawing/2014/main" id="{CA67BAAC-652B-4900-B3AB-25A8FE92B7AA}"/>
              </a:ext>
            </a:extLst>
          </p:cNvPr>
          <p:cNvSpPr>
            <a:spLocks noGrp="1"/>
          </p:cNvSpPr>
          <p:nvPr/>
        </p:nvSpPr>
        <p:spPr>
          <a:xfrm>
            <a:off x="1190625" y="2143125"/>
            <a:ext cx="1809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611"/>
          </a:bodyPr>
          <a:lstStyle/>
          <a:p>
            <a:pPr algn="l">
              <a:defRPr sz="18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Discover</a:t>
            </a:r>
          </a:p>
        </p:txBody>
      </p:sp>
      <p:sp>
        <p:nvSpPr>
          <p:cNvPr id="6" name="body-0">
            <a:extLst>
              <a:ext uri="{FF2B5EF4-FFF2-40B4-BE49-F238E27FC236}">
                <a16:creationId xmlns:a16="http://schemas.microsoft.com/office/drawing/2014/main" id="{9803704C-4DC4-4D7E-88E9-4D361AE438FC}"/>
              </a:ext>
            </a:extLst>
          </p:cNvPr>
          <p:cNvSpPr>
            <a:spLocks noGrp="1"/>
          </p:cNvSpPr>
          <p:nvPr/>
        </p:nvSpPr>
        <p:spPr>
          <a:xfrm>
            <a:off x="3143250" y="2143125"/>
            <a:ext cx="79533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Map approved assets and exposed services with Nmap.</a:t>
            </a:r>
          </a:p>
        </p:txBody>
      </p:sp>
      <p:sp>
        <p:nvSpPr>
          <p:cNvPr id="7" name="rule-0">
            <a:extLst>
              <a:ext uri="{FF2B5EF4-FFF2-40B4-BE49-F238E27FC236}">
                <a16:creationId xmlns:a16="http://schemas.microsoft.com/office/drawing/2014/main" id="{8472E6FD-7345-4B32-86AA-34F2B3C1660A}"/>
              </a:ext>
            </a:extLst>
          </p:cNvPr>
          <p:cNvSpPr>
            <a:spLocks noGrp="1"/>
          </p:cNvSpPr>
          <p:nvPr/>
        </p:nvSpPr>
        <p:spPr>
          <a:xfrm>
            <a:off x="400050" y="2790825"/>
            <a:ext cx="10858500" cy="9525"/>
          </a:xfrm>
          <a:prstGeom prst="roundRect">
            <a:avLst>
              <a:gd name="adj" fmla="val 50000"/>
            </a:avLst>
          </a:prstGeom>
          <a:solidFill>
            <a:srgbClr val="B8C2C8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num-1">
            <a:extLst>
              <a:ext uri="{FF2B5EF4-FFF2-40B4-BE49-F238E27FC236}">
                <a16:creationId xmlns:a16="http://schemas.microsoft.com/office/drawing/2014/main" id="{F90AD7EF-ADB8-4CE7-8BF6-BCBD69E494D4}"/>
              </a:ext>
            </a:extLst>
          </p:cNvPr>
          <p:cNvSpPr>
            <a:spLocks noGrp="1"/>
          </p:cNvSpPr>
          <p:nvPr/>
        </p:nvSpPr>
        <p:spPr>
          <a:xfrm>
            <a:off x="428625" y="3019425"/>
            <a:ext cx="571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head-1">
            <a:extLst>
              <a:ext uri="{FF2B5EF4-FFF2-40B4-BE49-F238E27FC236}">
                <a16:creationId xmlns:a16="http://schemas.microsoft.com/office/drawing/2014/main" id="{6BD44D8E-DF05-480D-A2A3-FBA4D0E00587}"/>
              </a:ext>
            </a:extLst>
          </p:cNvPr>
          <p:cNvSpPr>
            <a:spLocks noGrp="1"/>
          </p:cNvSpPr>
          <p:nvPr/>
        </p:nvSpPr>
        <p:spPr>
          <a:xfrm>
            <a:off x="1190625" y="3019425"/>
            <a:ext cx="1809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611"/>
          </a:bodyPr>
          <a:lstStyle/>
          <a:p>
            <a:pPr algn="l">
              <a:defRPr sz="18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10" name="body-1">
            <a:extLst>
              <a:ext uri="{FF2B5EF4-FFF2-40B4-BE49-F238E27FC236}">
                <a16:creationId xmlns:a16="http://schemas.microsoft.com/office/drawing/2014/main" id="{A20788D4-4E42-4393-B310-C2CF7C082AFF}"/>
              </a:ext>
            </a:extLst>
          </p:cNvPr>
          <p:cNvSpPr>
            <a:spLocks noGrp="1"/>
          </p:cNvSpPr>
          <p:nvPr/>
        </p:nvSpPr>
        <p:spPr>
          <a:xfrm>
            <a:off x="3143250" y="3019425"/>
            <a:ext cx="79533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Run Nuclei or OWASP ZAP against explicitly authorized targets.</a:t>
            </a:r>
          </a:p>
        </p:txBody>
      </p:sp>
      <p:sp>
        <p:nvSpPr>
          <p:cNvPr id="11" name="rule-1">
            <a:extLst>
              <a:ext uri="{FF2B5EF4-FFF2-40B4-BE49-F238E27FC236}">
                <a16:creationId xmlns:a16="http://schemas.microsoft.com/office/drawing/2014/main" id="{475D177F-870E-4063-B707-CCCB469786BA}"/>
              </a:ext>
            </a:extLst>
          </p:cNvPr>
          <p:cNvSpPr>
            <a:spLocks noGrp="1"/>
          </p:cNvSpPr>
          <p:nvPr/>
        </p:nvSpPr>
        <p:spPr>
          <a:xfrm>
            <a:off x="400050" y="3667125"/>
            <a:ext cx="10858500" cy="9525"/>
          </a:xfrm>
          <a:prstGeom prst="roundRect">
            <a:avLst>
              <a:gd name="adj" fmla="val 50000"/>
            </a:avLst>
          </a:prstGeom>
          <a:solidFill>
            <a:srgbClr val="B8C2C8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num-2">
            <a:extLst>
              <a:ext uri="{FF2B5EF4-FFF2-40B4-BE49-F238E27FC236}">
                <a16:creationId xmlns:a16="http://schemas.microsoft.com/office/drawing/2014/main" id="{05523CC7-F56A-4DBD-96E0-FA748BE8BAA4}"/>
              </a:ext>
            </a:extLst>
          </p:cNvPr>
          <p:cNvSpPr>
            <a:spLocks noGrp="1"/>
          </p:cNvSpPr>
          <p:nvPr/>
        </p:nvSpPr>
        <p:spPr>
          <a:xfrm>
            <a:off x="428625" y="3895725"/>
            <a:ext cx="571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head-2">
            <a:extLst>
              <a:ext uri="{FF2B5EF4-FFF2-40B4-BE49-F238E27FC236}">
                <a16:creationId xmlns:a16="http://schemas.microsoft.com/office/drawing/2014/main" id="{DB1E0B74-C469-4239-A194-F38BCE2EA67C}"/>
              </a:ext>
            </a:extLst>
          </p:cNvPr>
          <p:cNvSpPr>
            <a:spLocks noGrp="1"/>
          </p:cNvSpPr>
          <p:nvPr/>
        </p:nvSpPr>
        <p:spPr>
          <a:xfrm>
            <a:off x="1190625" y="3895725"/>
            <a:ext cx="1809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611"/>
          </a:bodyPr>
          <a:lstStyle/>
          <a:p>
            <a:pPr algn="l">
              <a:defRPr sz="18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Decide</a:t>
            </a:r>
          </a:p>
        </p:txBody>
      </p:sp>
      <p:sp>
        <p:nvSpPr>
          <p:cNvPr id="14" name="body-2">
            <a:extLst>
              <a:ext uri="{FF2B5EF4-FFF2-40B4-BE49-F238E27FC236}">
                <a16:creationId xmlns:a16="http://schemas.microsoft.com/office/drawing/2014/main" id="{DB7F815E-D6FA-40B8-8074-1906D27AC7D6}"/>
              </a:ext>
            </a:extLst>
          </p:cNvPr>
          <p:cNvSpPr>
            <a:spLocks noGrp="1"/>
          </p:cNvSpPr>
          <p:nvPr/>
        </p:nvSpPr>
        <p:spPr>
          <a:xfrm>
            <a:off x="3143250" y="3895725"/>
            <a:ext cx="79533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Combine severity, exploitability, asset value, and evidence.</a:t>
            </a:r>
          </a:p>
        </p:txBody>
      </p:sp>
      <p:sp>
        <p:nvSpPr>
          <p:cNvPr id="15" name="rule-2">
            <a:extLst>
              <a:ext uri="{FF2B5EF4-FFF2-40B4-BE49-F238E27FC236}">
                <a16:creationId xmlns:a16="http://schemas.microsoft.com/office/drawing/2014/main" id="{C86C8C31-5487-426B-B931-E4BC35A0B9A9}"/>
              </a:ext>
            </a:extLst>
          </p:cNvPr>
          <p:cNvSpPr>
            <a:spLocks noGrp="1"/>
          </p:cNvSpPr>
          <p:nvPr/>
        </p:nvSpPr>
        <p:spPr>
          <a:xfrm>
            <a:off x="400050" y="4543425"/>
            <a:ext cx="10858500" cy="9525"/>
          </a:xfrm>
          <a:prstGeom prst="roundRect">
            <a:avLst>
              <a:gd name="adj" fmla="val 50000"/>
            </a:avLst>
          </a:prstGeom>
          <a:solidFill>
            <a:srgbClr val="B8C2C8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num-3">
            <a:extLst>
              <a:ext uri="{FF2B5EF4-FFF2-40B4-BE49-F238E27FC236}">
                <a16:creationId xmlns:a16="http://schemas.microsoft.com/office/drawing/2014/main" id="{82A21614-9737-48D2-8069-90CC25EF61C0}"/>
              </a:ext>
            </a:extLst>
          </p:cNvPr>
          <p:cNvSpPr>
            <a:spLocks noGrp="1"/>
          </p:cNvSpPr>
          <p:nvPr/>
        </p:nvSpPr>
        <p:spPr>
          <a:xfrm>
            <a:off x="428625" y="4772025"/>
            <a:ext cx="571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head-3">
            <a:extLst>
              <a:ext uri="{FF2B5EF4-FFF2-40B4-BE49-F238E27FC236}">
                <a16:creationId xmlns:a16="http://schemas.microsoft.com/office/drawing/2014/main" id="{4E508B28-C0F2-46F9-93CB-5D88527D3A2D}"/>
              </a:ext>
            </a:extLst>
          </p:cNvPr>
          <p:cNvSpPr>
            <a:spLocks noGrp="1"/>
          </p:cNvSpPr>
          <p:nvPr/>
        </p:nvSpPr>
        <p:spPr>
          <a:xfrm>
            <a:off x="1190625" y="4772025"/>
            <a:ext cx="1809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611"/>
          </a:bodyPr>
          <a:lstStyle/>
          <a:p>
            <a:pPr algn="l">
              <a:defRPr sz="18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Guide</a:t>
            </a:r>
          </a:p>
        </p:txBody>
      </p:sp>
      <p:sp>
        <p:nvSpPr>
          <p:cNvPr id="18" name="body-3">
            <a:extLst>
              <a:ext uri="{FF2B5EF4-FFF2-40B4-BE49-F238E27FC236}">
                <a16:creationId xmlns:a16="http://schemas.microsoft.com/office/drawing/2014/main" id="{5F6FC8C1-4FA9-4F15-B948-569431ABD3D1}"/>
              </a:ext>
            </a:extLst>
          </p:cNvPr>
          <p:cNvSpPr>
            <a:spLocks noGrp="1"/>
          </p:cNvSpPr>
          <p:nvPr/>
        </p:nvSpPr>
        <p:spPr>
          <a:xfrm>
            <a:off x="3143250" y="4772025"/>
            <a:ext cx="79533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Recommend the next assessment step while keeping a human in control.</a:t>
            </a:r>
          </a:p>
        </p:txBody>
      </p:sp>
    </p:spTree>
    <p:extLst>
      <p:ext uri="{BB962C8B-B14F-4D97-AF65-F5344CB8AC3E}">
        <p14:creationId xmlns:p14="http://schemas.microsoft.com/office/powerpoint/2010/main" val="949368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-3">
            <a:extLst>
              <a:ext uri="{FF2B5EF4-FFF2-40B4-BE49-F238E27FC236}">
                <a16:creationId xmlns:a16="http://schemas.microsoft.com/office/drawing/2014/main" id="{1B70C56A-495B-48B0-A40E-71CED671CD30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038"/>
          </a:bodyPr>
          <a:lstStyle/>
          <a:p>
            <a:pPr algn="l">
              <a:defRPr sz="28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Literature shows strong potential—and a persistent real-world gap</a:t>
            </a:r>
          </a:p>
        </p:txBody>
      </p:sp>
      <p:sp>
        <p:nvSpPr>
          <p:cNvPr id="2" name="page-3">
            <a:extLst>
              <a:ext uri="{FF2B5EF4-FFF2-40B4-BE49-F238E27FC236}">
                <a16:creationId xmlns:a16="http://schemas.microsoft.com/office/drawing/2014/main" id="{7F1A01D4-C571-45A8-A3E6-A7BFAEC8E2BA}"/>
              </a:ext>
            </a:extLst>
          </p:cNvPr>
          <p:cNvSpPr>
            <a:spLocks noGrp="1"/>
          </p:cNvSpPr>
          <p:nvPr/>
        </p:nvSpPr>
        <p:spPr>
          <a:xfrm>
            <a:off x="11239500" y="6305550"/>
            <a:ext cx="52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r"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lit-intro">
            <a:extLst>
              <a:ext uri="{FF2B5EF4-FFF2-40B4-BE49-F238E27FC236}">
                <a16:creationId xmlns:a16="http://schemas.microsoft.com/office/drawing/2014/main" id="{51559827-A8EC-4163-8C7E-27B809D7A5A6}"/>
              </a:ext>
            </a:extLst>
          </p:cNvPr>
          <p:cNvSpPr>
            <a:spLocks noGrp="1"/>
          </p:cNvSpPr>
          <p:nvPr/>
        </p:nvSpPr>
        <p:spPr>
          <a:xfrm>
            <a:off x="400050" y="1000125"/>
            <a:ext cx="1085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Five local papers point toward AI-assisted workflows, while warning against unchecked autonomy.</a:t>
            </a:r>
          </a:p>
        </p:txBody>
      </p:sp>
      <p:sp>
        <p:nvSpPr>
          <p:cNvPr id="4" name="lit-head-0">
            <a:extLst>
              <a:ext uri="{FF2B5EF4-FFF2-40B4-BE49-F238E27FC236}">
                <a16:creationId xmlns:a16="http://schemas.microsoft.com/office/drawing/2014/main" id="{3D868D41-E3C4-4113-BF69-EE2489DB07A2}"/>
              </a:ext>
            </a:extLst>
          </p:cNvPr>
          <p:cNvSpPr>
            <a:spLocks noGrp="1"/>
          </p:cNvSpPr>
          <p:nvPr/>
        </p:nvSpPr>
        <p:spPr>
          <a:xfrm>
            <a:off x="400050" y="1571625"/>
            <a:ext cx="2047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444"/>
          </a:bodyPr>
          <a:lstStyle/>
          <a:p>
            <a:pPr algn="l">
              <a:defRPr sz="13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Study</a:t>
            </a:r>
          </a:p>
        </p:txBody>
      </p:sp>
      <p:sp>
        <p:nvSpPr>
          <p:cNvPr id="5" name="lit-head-1">
            <a:extLst>
              <a:ext uri="{FF2B5EF4-FFF2-40B4-BE49-F238E27FC236}">
                <a16:creationId xmlns:a16="http://schemas.microsoft.com/office/drawing/2014/main" id="{3739FAFD-46CD-46BF-949F-F49C7A8362CA}"/>
              </a:ext>
            </a:extLst>
          </p:cNvPr>
          <p:cNvSpPr>
            <a:spLocks noGrp="1"/>
          </p:cNvSpPr>
          <p:nvPr/>
        </p:nvSpPr>
        <p:spPr>
          <a:xfrm>
            <a:off x="2619375" y="1571625"/>
            <a:ext cx="3952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444"/>
          </a:bodyPr>
          <a:lstStyle/>
          <a:p>
            <a:pPr algn="l">
              <a:defRPr sz="13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Main contribution</a:t>
            </a:r>
          </a:p>
        </p:txBody>
      </p:sp>
      <p:sp>
        <p:nvSpPr>
          <p:cNvPr id="6" name="lit-head-2">
            <a:extLst>
              <a:ext uri="{FF2B5EF4-FFF2-40B4-BE49-F238E27FC236}">
                <a16:creationId xmlns:a16="http://schemas.microsoft.com/office/drawing/2014/main" id="{5F487A64-90D5-478F-8162-C8172066CE14}"/>
              </a:ext>
            </a:extLst>
          </p:cNvPr>
          <p:cNvSpPr>
            <a:spLocks noGrp="1"/>
          </p:cNvSpPr>
          <p:nvPr/>
        </p:nvSpPr>
        <p:spPr>
          <a:xfrm>
            <a:off x="6762750" y="1571625"/>
            <a:ext cx="485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444"/>
          </a:bodyPr>
          <a:lstStyle/>
          <a:p>
            <a:pPr algn="l">
              <a:defRPr sz="13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Limitation / lesson</a:t>
            </a:r>
          </a:p>
        </p:txBody>
      </p:sp>
      <p:sp>
        <p:nvSpPr>
          <p:cNvPr id="7" name="lit-head-rule">
            <a:extLst>
              <a:ext uri="{FF2B5EF4-FFF2-40B4-BE49-F238E27FC236}">
                <a16:creationId xmlns:a16="http://schemas.microsoft.com/office/drawing/2014/main" id="{472113F0-ACB2-4A45-96DC-547460739EC8}"/>
              </a:ext>
            </a:extLst>
          </p:cNvPr>
          <p:cNvSpPr>
            <a:spLocks noGrp="1"/>
          </p:cNvSpPr>
          <p:nvPr/>
        </p:nvSpPr>
        <p:spPr>
          <a:xfrm>
            <a:off x="400050" y="1924050"/>
            <a:ext cx="11220450" cy="19050"/>
          </a:xfrm>
          <a:prstGeom prst="roundRect">
            <a:avLst>
              <a:gd name="adj" fmla="val 50000"/>
            </a:avLst>
          </a:prstGeom>
          <a:solidFill>
            <a:srgbClr val="101820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lit-bg-0">
            <a:extLst>
              <a:ext uri="{FF2B5EF4-FFF2-40B4-BE49-F238E27FC236}">
                <a16:creationId xmlns:a16="http://schemas.microsoft.com/office/drawing/2014/main" id="{7F1705C1-0369-449C-819C-A048A1ACA343}"/>
              </a:ext>
            </a:extLst>
          </p:cNvPr>
          <p:cNvSpPr>
            <a:spLocks noGrp="1"/>
          </p:cNvSpPr>
          <p:nvPr/>
        </p:nvSpPr>
        <p:spPr>
          <a:xfrm>
            <a:off x="400050" y="2028825"/>
            <a:ext cx="11220450" cy="647700"/>
          </a:xfrm>
          <a:prstGeom prst="roundRect">
            <a:avLst>
              <a:gd name="adj" fmla="val 17647"/>
            </a:avLst>
          </a:prstGeom>
          <a:solidFill>
            <a:srgbClr val="EDF1F3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lit-0-0">
            <a:extLst>
              <a:ext uri="{FF2B5EF4-FFF2-40B4-BE49-F238E27FC236}">
                <a16:creationId xmlns:a16="http://schemas.microsoft.com/office/drawing/2014/main" id="{925A1540-1CE3-420E-AB87-033E10705B68}"/>
              </a:ext>
            </a:extLst>
          </p:cNvPr>
          <p:cNvSpPr>
            <a:spLocks noGrp="1"/>
          </p:cNvSpPr>
          <p:nvPr/>
        </p:nvSpPr>
        <p:spPr>
          <a:xfrm>
            <a:off x="400050" y="2095500"/>
            <a:ext cx="20478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Curtis &amp; Eisty</a:t>
            </a:r>
          </a:p>
        </p:txBody>
      </p:sp>
      <p:sp>
        <p:nvSpPr>
          <p:cNvPr id="10" name="lit-0-1">
            <a:extLst>
              <a:ext uri="{FF2B5EF4-FFF2-40B4-BE49-F238E27FC236}">
                <a16:creationId xmlns:a16="http://schemas.microsoft.com/office/drawing/2014/main" id="{D2583259-04E3-47AC-9B7D-11B4E69FCC7B}"/>
              </a:ext>
            </a:extLst>
          </p:cNvPr>
          <p:cNvSpPr>
            <a:spLocks noGrp="1"/>
          </p:cNvSpPr>
          <p:nvPr/>
        </p:nvSpPr>
        <p:spPr>
          <a:xfrm>
            <a:off x="2619375" y="2095500"/>
            <a:ext cx="39528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Review of 58 studies; RL dominates current research</a:t>
            </a:r>
          </a:p>
        </p:txBody>
      </p:sp>
      <p:sp>
        <p:nvSpPr>
          <p:cNvPr id="11" name="lit-0-2">
            <a:extLst>
              <a:ext uri="{FF2B5EF4-FFF2-40B4-BE49-F238E27FC236}">
                <a16:creationId xmlns:a16="http://schemas.microsoft.com/office/drawing/2014/main" id="{C86B70D6-C809-4AD8-AB06-5B5F3552E2B3}"/>
              </a:ext>
            </a:extLst>
          </p:cNvPr>
          <p:cNvSpPr>
            <a:spLocks noGrp="1"/>
          </p:cNvSpPr>
          <p:nvPr/>
        </p:nvSpPr>
        <p:spPr>
          <a:xfrm>
            <a:off x="6762750" y="2095500"/>
            <a:ext cx="4857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Reconnaissance, post-exploitation, and LLM work remain limited</a:t>
            </a:r>
          </a:p>
        </p:txBody>
      </p:sp>
      <p:sp>
        <p:nvSpPr>
          <p:cNvPr id="12" name="lit-1-0">
            <a:extLst>
              <a:ext uri="{FF2B5EF4-FFF2-40B4-BE49-F238E27FC236}">
                <a16:creationId xmlns:a16="http://schemas.microsoft.com/office/drawing/2014/main" id="{64924870-DCFB-4A60-B3EB-F222D1E7E400}"/>
              </a:ext>
            </a:extLst>
          </p:cNvPr>
          <p:cNvSpPr>
            <a:spLocks noGrp="1"/>
          </p:cNvSpPr>
          <p:nvPr/>
        </p:nvSpPr>
        <p:spPr>
          <a:xfrm>
            <a:off x="400050" y="2819400"/>
            <a:ext cx="20478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Becker et al.</a:t>
            </a:r>
          </a:p>
        </p:txBody>
      </p:sp>
      <p:sp>
        <p:nvSpPr>
          <p:cNvPr id="13" name="lit-1-1">
            <a:extLst>
              <a:ext uri="{FF2B5EF4-FFF2-40B4-BE49-F238E27FC236}">
                <a16:creationId xmlns:a16="http://schemas.microsoft.com/office/drawing/2014/main" id="{43144D3D-72C9-4D50-AA12-28C5EA634728}"/>
              </a:ext>
            </a:extLst>
          </p:cNvPr>
          <p:cNvSpPr>
            <a:spLocks noGrp="1"/>
          </p:cNvSpPr>
          <p:nvPr/>
        </p:nvSpPr>
        <p:spPr>
          <a:xfrm>
            <a:off x="2619375" y="2819400"/>
            <a:ext cx="39528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A3C, Q-learning, and DQN evaluated in NASim</a:t>
            </a:r>
          </a:p>
        </p:txBody>
      </p:sp>
      <p:sp>
        <p:nvSpPr>
          <p:cNvPr id="14" name="lit-1-2">
            <a:extLst>
              <a:ext uri="{FF2B5EF4-FFF2-40B4-BE49-F238E27FC236}">
                <a16:creationId xmlns:a16="http://schemas.microsoft.com/office/drawing/2014/main" id="{72F34466-42CD-477D-B245-41E80C7AE352}"/>
              </a:ext>
            </a:extLst>
          </p:cNvPr>
          <p:cNvSpPr>
            <a:spLocks noGrp="1"/>
          </p:cNvSpPr>
          <p:nvPr/>
        </p:nvSpPr>
        <p:spPr>
          <a:xfrm>
            <a:off x="6762750" y="2819400"/>
            <a:ext cx="4857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Results rely on small simulated scenarios</a:t>
            </a:r>
          </a:p>
        </p:txBody>
      </p:sp>
      <p:sp>
        <p:nvSpPr>
          <p:cNvPr id="15" name="lit-bg-2">
            <a:extLst>
              <a:ext uri="{FF2B5EF4-FFF2-40B4-BE49-F238E27FC236}">
                <a16:creationId xmlns:a16="http://schemas.microsoft.com/office/drawing/2014/main" id="{89460A23-1861-4E15-ADD1-171ACFF7A4FC}"/>
              </a:ext>
            </a:extLst>
          </p:cNvPr>
          <p:cNvSpPr>
            <a:spLocks noGrp="1"/>
          </p:cNvSpPr>
          <p:nvPr/>
        </p:nvSpPr>
        <p:spPr>
          <a:xfrm>
            <a:off x="400050" y="3476625"/>
            <a:ext cx="11220450" cy="647700"/>
          </a:xfrm>
          <a:prstGeom prst="roundRect">
            <a:avLst>
              <a:gd name="adj" fmla="val 17647"/>
            </a:avLst>
          </a:prstGeom>
          <a:solidFill>
            <a:srgbClr val="EDF1F3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lit-2-0">
            <a:extLst>
              <a:ext uri="{FF2B5EF4-FFF2-40B4-BE49-F238E27FC236}">
                <a16:creationId xmlns:a16="http://schemas.microsoft.com/office/drawing/2014/main" id="{2E6DEF8B-5A61-41D6-B513-2BAEB922BF08}"/>
              </a:ext>
            </a:extLst>
          </p:cNvPr>
          <p:cNvSpPr>
            <a:spLocks noGrp="1"/>
          </p:cNvSpPr>
          <p:nvPr/>
        </p:nvSpPr>
        <p:spPr>
          <a:xfrm>
            <a:off x="400050" y="3543300"/>
            <a:ext cx="20478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Happe &amp; Cito</a:t>
            </a:r>
          </a:p>
        </p:txBody>
      </p:sp>
      <p:sp>
        <p:nvSpPr>
          <p:cNvPr id="17" name="lit-2-1">
            <a:extLst>
              <a:ext uri="{FF2B5EF4-FFF2-40B4-BE49-F238E27FC236}">
                <a16:creationId xmlns:a16="http://schemas.microsoft.com/office/drawing/2014/main" id="{FDD9F38B-B92E-401C-8CF8-78D6A88A88F6}"/>
              </a:ext>
            </a:extLst>
          </p:cNvPr>
          <p:cNvSpPr>
            <a:spLocks noGrp="1"/>
          </p:cNvSpPr>
          <p:nvPr/>
        </p:nvSpPr>
        <p:spPr>
          <a:xfrm>
            <a:off x="2619375" y="3543300"/>
            <a:ext cx="39528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Explains why LLMs fit uncertain, pattern-heavy testing</a:t>
            </a:r>
          </a:p>
        </p:txBody>
      </p:sp>
      <p:sp>
        <p:nvSpPr>
          <p:cNvPr id="18" name="lit-2-2">
            <a:extLst>
              <a:ext uri="{FF2B5EF4-FFF2-40B4-BE49-F238E27FC236}">
                <a16:creationId xmlns:a16="http://schemas.microsoft.com/office/drawing/2014/main" id="{B10900FB-ADDE-472B-B752-D91F1D0DB942}"/>
              </a:ext>
            </a:extLst>
          </p:cNvPr>
          <p:cNvSpPr>
            <a:spLocks noGrp="1"/>
          </p:cNvSpPr>
          <p:nvPr/>
        </p:nvSpPr>
        <p:spPr>
          <a:xfrm>
            <a:off x="6762750" y="3543300"/>
            <a:ext cx="4857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Reliability, privacy, safety, cost, and accountability remain concerns</a:t>
            </a:r>
          </a:p>
        </p:txBody>
      </p:sp>
      <p:sp>
        <p:nvSpPr>
          <p:cNvPr id="19" name="lit-3-0">
            <a:extLst>
              <a:ext uri="{FF2B5EF4-FFF2-40B4-BE49-F238E27FC236}">
                <a16:creationId xmlns:a16="http://schemas.microsoft.com/office/drawing/2014/main" id="{C308ACFB-75C8-4BA4-A23C-779BD72FF6FF}"/>
              </a:ext>
            </a:extLst>
          </p:cNvPr>
          <p:cNvSpPr>
            <a:spLocks noGrp="1"/>
          </p:cNvSpPr>
          <p:nvPr/>
        </p:nvSpPr>
        <p:spPr>
          <a:xfrm>
            <a:off x="400050" y="4267200"/>
            <a:ext cx="20478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Henke</a:t>
            </a:r>
          </a:p>
        </p:txBody>
      </p:sp>
      <p:sp>
        <p:nvSpPr>
          <p:cNvPr id="20" name="lit-3-1">
            <a:extLst>
              <a:ext uri="{FF2B5EF4-FFF2-40B4-BE49-F238E27FC236}">
                <a16:creationId xmlns:a16="http://schemas.microsoft.com/office/drawing/2014/main" id="{797F0C7B-FC66-4592-9CDA-01BA41A62BEF}"/>
              </a:ext>
            </a:extLst>
          </p:cNvPr>
          <p:cNvSpPr>
            <a:spLocks noGrp="1"/>
          </p:cNvSpPr>
          <p:nvPr/>
        </p:nvSpPr>
        <p:spPr>
          <a:xfrm>
            <a:off x="2619375" y="4267200"/>
            <a:ext cx="39528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AutoPentest uses an LLM agent with tools and knowledge</a:t>
            </a:r>
          </a:p>
        </p:txBody>
      </p:sp>
      <p:sp>
        <p:nvSpPr>
          <p:cNvPr id="21" name="lit-3-2">
            <a:extLst>
              <a:ext uri="{FF2B5EF4-FFF2-40B4-BE49-F238E27FC236}">
                <a16:creationId xmlns:a16="http://schemas.microsoft.com/office/drawing/2014/main" id="{C8D6AD45-34CC-4BDD-B177-6ED5C3A1CCF1}"/>
              </a:ext>
            </a:extLst>
          </p:cNvPr>
          <p:cNvSpPr>
            <a:spLocks noGrp="1"/>
          </p:cNvSpPr>
          <p:nvPr/>
        </p:nvSpPr>
        <p:spPr>
          <a:xfrm>
            <a:off x="6762750" y="4267200"/>
            <a:ext cx="4857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Only 15–25% of subtasks completed in the reported experiment</a:t>
            </a:r>
          </a:p>
        </p:txBody>
      </p:sp>
      <p:sp>
        <p:nvSpPr>
          <p:cNvPr id="22" name="lit-bg-4">
            <a:extLst>
              <a:ext uri="{FF2B5EF4-FFF2-40B4-BE49-F238E27FC236}">
                <a16:creationId xmlns:a16="http://schemas.microsoft.com/office/drawing/2014/main" id="{78F7CB23-9916-4DA7-AB39-112AE64A1F92}"/>
              </a:ext>
            </a:extLst>
          </p:cNvPr>
          <p:cNvSpPr>
            <a:spLocks noGrp="1"/>
          </p:cNvSpPr>
          <p:nvPr/>
        </p:nvSpPr>
        <p:spPr>
          <a:xfrm>
            <a:off x="400050" y="4924425"/>
            <a:ext cx="11220450" cy="647700"/>
          </a:xfrm>
          <a:prstGeom prst="roundRect">
            <a:avLst>
              <a:gd name="adj" fmla="val 17647"/>
            </a:avLst>
          </a:prstGeom>
          <a:solidFill>
            <a:srgbClr val="EDF1F3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lit-4-0">
            <a:extLst>
              <a:ext uri="{FF2B5EF4-FFF2-40B4-BE49-F238E27FC236}">
                <a16:creationId xmlns:a16="http://schemas.microsoft.com/office/drawing/2014/main" id="{ED4F7C07-09F9-4DD6-8EA4-AC3EF4091ADA}"/>
              </a:ext>
            </a:extLst>
          </p:cNvPr>
          <p:cNvSpPr>
            <a:spLocks noGrp="1"/>
          </p:cNvSpPr>
          <p:nvPr/>
        </p:nvSpPr>
        <p:spPr>
          <a:xfrm>
            <a:off x="400050" y="4991100"/>
            <a:ext cx="20478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Fernandes et al.</a:t>
            </a:r>
          </a:p>
        </p:txBody>
      </p:sp>
      <p:sp>
        <p:nvSpPr>
          <p:cNvPr id="24" name="lit-4-1">
            <a:extLst>
              <a:ext uri="{FF2B5EF4-FFF2-40B4-BE49-F238E27FC236}">
                <a16:creationId xmlns:a16="http://schemas.microsoft.com/office/drawing/2014/main" id="{4CEA4BE8-71EC-4871-93C7-A5A60EA3213E}"/>
              </a:ext>
            </a:extLst>
          </p:cNvPr>
          <p:cNvSpPr>
            <a:spLocks noGrp="1"/>
          </p:cNvSpPr>
          <p:nvPr/>
        </p:nvSpPr>
        <p:spPr>
          <a:xfrm>
            <a:off x="2619375" y="4991100"/>
            <a:ext cx="39528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Compares autonomous pentesting simulators</a:t>
            </a:r>
          </a:p>
        </p:txBody>
      </p:sp>
      <p:sp>
        <p:nvSpPr>
          <p:cNvPr id="25" name="lit-4-2">
            <a:extLst>
              <a:ext uri="{FF2B5EF4-FFF2-40B4-BE49-F238E27FC236}">
                <a16:creationId xmlns:a16="http://schemas.microsoft.com/office/drawing/2014/main" id="{362F5952-4DE0-442E-87FB-A05FFE88DC03}"/>
              </a:ext>
            </a:extLst>
          </p:cNvPr>
          <p:cNvSpPr>
            <a:spLocks noGrp="1"/>
          </p:cNvSpPr>
          <p:nvPr/>
        </p:nvSpPr>
        <p:spPr>
          <a:xfrm>
            <a:off x="6762750" y="4991100"/>
            <a:ext cx="4857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No single environment leads in fidelity, ATT&amp;CK coverage, and scale</a:t>
            </a:r>
          </a:p>
        </p:txBody>
      </p:sp>
    </p:spTree>
    <p:extLst>
      <p:ext uri="{BB962C8B-B14F-4D97-AF65-F5344CB8AC3E}">
        <p14:creationId xmlns:p14="http://schemas.microsoft.com/office/powerpoint/2010/main" val="2096542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-4">
            <a:extLst>
              <a:ext uri="{FF2B5EF4-FFF2-40B4-BE49-F238E27FC236}">
                <a16:creationId xmlns:a16="http://schemas.microsoft.com/office/drawing/2014/main" id="{645D09FE-FC88-44CE-8B37-84231C675993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8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The missing layer is intelligent, explainable prioritization</a:t>
            </a:r>
          </a:p>
        </p:txBody>
      </p:sp>
      <p:sp>
        <p:nvSpPr>
          <p:cNvPr id="2" name="page-4">
            <a:extLst>
              <a:ext uri="{FF2B5EF4-FFF2-40B4-BE49-F238E27FC236}">
                <a16:creationId xmlns:a16="http://schemas.microsoft.com/office/drawing/2014/main" id="{7CC50764-C3BB-4C9D-964B-D530D4B69521}"/>
              </a:ext>
            </a:extLst>
          </p:cNvPr>
          <p:cNvSpPr>
            <a:spLocks noGrp="1"/>
          </p:cNvSpPr>
          <p:nvPr/>
        </p:nvSpPr>
        <p:spPr>
          <a:xfrm>
            <a:off x="11239500" y="6305550"/>
            <a:ext cx="52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r"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problem-panel">
            <a:extLst>
              <a:ext uri="{FF2B5EF4-FFF2-40B4-BE49-F238E27FC236}">
                <a16:creationId xmlns:a16="http://schemas.microsoft.com/office/drawing/2014/main" id="{A6F1D323-5E23-4250-8086-EAD096719066}"/>
              </a:ext>
            </a:extLst>
          </p:cNvPr>
          <p:cNvSpPr>
            <a:spLocks noGrp="1"/>
          </p:cNvSpPr>
          <p:nvPr/>
        </p:nvSpPr>
        <p:spPr>
          <a:xfrm>
            <a:off x="400050" y="1381125"/>
            <a:ext cx="4953000" cy="4095750"/>
          </a:xfrm>
          <a:prstGeom prst="roundRect">
            <a:avLst>
              <a:gd name="adj" fmla="val 2791"/>
            </a:avLst>
          </a:prstGeom>
          <a:solidFill>
            <a:srgbClr val="17324D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problem-label">
            <a:extLst>
              <a:ext uri="{FF2B5EF4-FFF2-40B4-BE49-F238E27FC236}">
                <a16:creationId xmlns:a16="http://schemas.microsoft.com/office/drawing/2014/main" id="{956E70E7-CFFC-4621-B607-81E63B6B4B25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PROBLEM STATEMENT</a:t>
            </a:r>
          </a:p>
        </p:txBody>
      </p:sp>
      <p:sp>
        <p:nvSpPr>
          <p:cNvPr id="5" name="problem-copy">
            <a:extLst>
              <a:ext uri="{FF2B5EF4-FFF2-40B4-BE49-F238E27FC236}">
                <a16:creationId xmlns:a16="http://schemas.microsoft.com/office/drawing/2014/main" id="{317F635B-A641-4BF5-9A7D-8830F7DAA27E}"/>
              </a:ext>
            </a:extLst>
          </p:cNvPr>
          <p:cNvSpPr>
            <a:spLocks noGrp="1"/>
          </p:cNvSpPr>
          <p:nvPr/>
        </p:nvSpPr>
        <p:spPr>
          <a:xfrm>
            <a:off x="685800" y="2238375"/>
            <a:ext cx="400050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505"/>
          </a:bodyPr>
          <a:lstStyle/>
          <a:p>
            <a: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Existing scanners identify many issues but do not reliably explain which vulnerability matters most, why it matters, or what safe assessment step should follow.</a:t>
            </a:r>
          </a:p>
        </p:txBody>
      </p:sp>
      <p:sp>
        <p:nvSpPr>
          <p:cNvPr id="6" name="problem-scope">
            <a:extLst>
              <a:ext uri="{FF2B5EF4-FFF2-40B4-BE49-F238E27FC236}">
                <a16:creationId xmlns:a16="http://schemas.microsoft.com/office/drawing/2014/main" id="{4A73D143-805E-4DE5-93EE-29B8FBBEE5AF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4000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333"/>
          </a:bodyPr>
          <a:lstStyle/>
          <a:p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project addresses decision support—not unsupervised exploitation.</a:t>
            </a:r>
          </a:p>
        </p:txBody>
      </p:sp>
      <p:sp>
        <p:nvSpPr>
          <p:cNvPr id="7" name="gap-title">
            <a:extLst>
              <a:ext uri="{FF2B5EF4-FFF2-40B4-BE49-F238E27FC236}">
                <a16:creationId xmlns:a16="http://schemas.microsoft.com/office/drawing/2014/main" id="{6EBE0773-5BDF-402A-8A70-5D009BBEB0F8}"/>
              </a:ext>
            </a:extLst>
          </p:cNvPr>
          <p:cNvSpPr>
            <a:spLocks noGrp="1"/>
          </p:cNvSpPr>
          <p:nvPr/>
        </p:nvSpPr>
        <p:spPr>
          <a:xfrm>
            <a:off x="6048375" y="1476375"/>
            <a:ext cx="4572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026"/>
          </a:bodyPr>
          <a:lstStyle/>
          <a:p>
            <a:pPr algn="l">
              <a:defRPr sz="19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Required capabilities</a:t>
            </a:r>
          </a:p>
        </p:txBody>
      </p:sp>
      <p:sp>
        <p:nvSpPr>
          <p:cNvPr id="8" name="gap-list">
            <a:extLst>
              <a:ext uri="{FF2B5EF4-FFF2-40B4-BE49-F238E27FC236}">
                <a16:creationId xmlns:a16="http://schemas.microsoft.com/office/drawing/2014/main" id="{C2F9242A-D492-4232-A968-1C5BBF7946F6}"/>
              </a:ext>
            </a:extLst>
          </p:cNvPr>
          <p:cNvSpPr>
            <a:spLocks noGrp="1"/>
          </p:cNvSpPr>
          <p:nvPr/>
        </p:nvSpPr>
        <p:spPr>
          <a:xfrm>
            <a:off x="6048375" y="2095500"/>
            <a:ext cx="51435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7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• Normalize outputs from multiple security tools</a:t>
            </a:r>
          </a:p>
          <a:p>
            <a:pPr algn="l">
              <a:defRPr sz="17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• Rank findings using technical and business context</a:t>
            </a:r>
          </a:p>
          <a:p>
            <a:pPr algn="l">
              <a:defRPr sz="17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• Recommend authorized next steps with clear reasons</a:t>
            </a:r>
          </a:p>
          <a:p>
            <a:pPr algn="l">
              <a:defRPr sz="17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• Keep approval gates, logs, and evidence for every action</a:t>
            </a:r>
          </a:p>
        </p:txBody>
      </p:sp>
      <p:sp>
        <p:nvSpPr>
          <p:cNvPr id="9" name="gap-accent">
            <a:extLst>
              <a:ext uri="{FF2B5EF4-FFF2-40B4-BE49-F238E27FC236}">
                <a16:creationId xmlns:a16="http://schemas.microsoft.com/office/drawing/2014/main" id="{35E62386-1CDF-4F2E-A046-949F9D21420A}"/>
              </a:ext>
            </a:extLst>
          </p:cNvPr>
          <p:cNvSpPr>
            <a:spLocks noGrp="1"/>
          </p:cNvSpPr>
          <p:nvPr/>
        </p:nvSpPr>
        <p:spPr>
          <a:xfrm>
            <a:off x="6048375" y="4953000"/>
            <a:ext cx="4857750" cy="66675"/>
          </a:xfrm>
          <a:prstGeom prst="roundRect">
            <a:avLst>
              <a:gd name="adj" fmla="val 50000"/>
            </a:avLst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63665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-5">
            <a:extLst>
              <a:ext uri="{FF2B5EF4-FFF2-40B4-BE49-F238E27FC236}">
                <a16:creationId xmlns:a16="http://schemas.microsoft.com/office/drawing/2014/main" id="{EA634A8C-38A7-4E29-BE78-546DF895C1CF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8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Six objectives convert scan data into controlled decisions</a:t>
            </a:r>
          </a:p>
        </p:txBody>
      </p:sp>
      <p:sp>
        <p:nvSpPr>
          <p:cNvPr id="2" name="page-5">
            <a:extLst>
              <a:ext uri="{FF2B5EF4-FFF2-40B4-BE49-F238E27FC236}">
                <a16:creationId xmlns:a16="http://schemas.microsoft.com/office/drawing/2014/main" id="{87AE1732-E8BF-4EE6-AA58-2EC701AAA382}"/>
              </a:ext>
            </a:extLst>
          </p:cNvPr>
          <p:cNvSpPr>
            <a:spLocks noGrp="1"/>
          </p:cNvSpPr>
          <p:nvPr/>
        </p:nvSpPr>
        <p:spPr>
          <a:xfrm>
            <a:off x="11239500" y="6305550"/>
            <a:ext cx="52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r"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obj-no-0">
            <a:extLst>
              <a:ext uri="{FF2B5EF4-FFF2-40B4-BE49-F238E27FC236}">
                <a16:creationId xmlns:a16="http://schemas.microsoft.com/office/drawing/2014/main" id="{56BACA29-2CA5-4E84-9E6D-FE434686282F}"/>
              </a:ext>
            </a:extLst>
          </p:cNvPr>
          <p:cNvSpPr>
            <a:spLocks noGrp="1"/>
          </p:cNvSpPr>
          <p:nvPr/>
        </p:nvSpPr>
        <p:spPr>
          <a:xfrm>
            <a:off x="400050" y="1524000"/>
            <a:ext cx="523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333"/>
          </a:bodyPr>
          <a:lstStyle/>
          <a:p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obj-h-0">
            <a:extLst>
              <a:ext uri="{FF2B5EF4-FFF2-40B4-BE49-F238E27FC236}">
                <a16:creationId xmlns:a16="http://schemas.microsoft.com/office/drawing/2014/main" id="{4B8D22C9-1EE1-4ABC-87D4-3D8A69613225}"/>
              </a:ext>
            </a:extLst>
          </p:cNvPr>
          <p:cNvSpPr>
            <a:spLocks noGrp="1"/>
          </p:cNvSpPr>
          <p:nvPr/>
        </p:nvSpPr>
        <p:spPr>
          <a:xfrm>
            <a:off x="400050" y="1981200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7436"/>
          </a:bodyPr>
          <a:lstStyle/>
          <a:p>
            <a:pPr algn="l">
              <a:defRPr sz="19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Integrate</a:t>
            </a:r>
          </a:p>
        </p:txBody>
      </p:sp>
      <p:sp>
        <p:nvSpPr>
          <p:cNvPr id="5" name="obj-b-0">
            <a:extLst>
              <a:ext uri="{FF2B5EF4-FFF2-40B4-BE49-F238E27FC236}">
                <a16:creationId xmlns:a16="http://schemas.microsoft.com/office/drawing/2014/main" id="{6CED04AB-11CF-4C3C-9C9A-3BAE0E573487}"/>
              </a:ext>
            </a:extLst>
          </p:cNvPr>
          <p:cNvSpPr>
            <a:spLocks noGrp="1"/>
          </p:cNvSpPr>
          <p:nvPr/>
        </p:nvSpPr>
        <p:spPr>
          <a:xfrm>
            <a:off x="400050" y="2457450"/>
            <a:ext cx="3143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Collect Nmap, Nuclei, and OWASP ZAP outputs.</a:t>
            </a:r>
          </a:p>
        </p:txBody>
      </p:sp>
      <p:sp>
        <p:nvSpPr>
          <p:cNvPr id="6" name="obj-no-1">
            <a:extLst>
              <a:ext uri="{FF2B5EF4-FFF2-40B4-BE49-F238E27FC236}">
                <a16:creationId xmlns:a16="http://schemas.microsoft.com/office/drawing/2014/main" id="{BE4FC0AD-EB50-481D-8DCC-1C57B187A0E2}"/>
              </a:ext>
            </a:extLst>
          </p:cNvPr>
          <p:cNvSpPr>
            <a:spLocks noGrp="1"/>
          </p:cNvSpPr>
          <p:nvPr/>
        </p:nvSpPr>
        <p:spPr>
          <a:xfrm>
            <a:off x="4210050" y="1524000"/>
            <a:ext cx="523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333"/>
          </a:bodyPr>
          <a:lstStyle/>
          <a:p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obj-h-1">
            <a:extLst>
              <a:ext uri="{FF2B5EF4-FFF2-40B4-BE49-F238E27FC236}">
                <a16:creationId xmlns:a16="http://schemas.microsoft.com/office/drawing/2014/main" id="{7D2764CD-E5CF-4E0A-A77D-7362BE24A51C}"/>
              </a:ext>
            </a:extLst>
          </p:cNvPr>
          <p:cNvSpPr>
            <a:spLocks noGrp="1"/>
          </p:cNvSpPr>
          <p:nvPr/>
        </p:nvSpPr>
        <p:spPr>
          <a:xfrm>
            <a:off x="4210050" y="1981200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7436"/>
          </a:bodyPr>
          <a:lstStyle/>
          <a:p>
            <a:pPr algn="l">
              <a:defRPr sz="19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Normalize</a:t>
            </a:r>
          </a:p>
        </p:txBody>
      </p:sp>
      <p:sp>
        <p:nvSpPr>
          <p:cNvPr id="8" name="obj-b-1">
            <a:extLst>
              <a:ext uri="{FF2B5EF4-FFF2-40B4-BE49-F238E27FC236}">
                <a16:creationId xmlns:a16="http://schemas.microsoft.com/office/drawing/2014/main" id="{7179F5A5-C032-4DB8-8A38-010276ECF755}"/>
              </a:ext>
            </a:extLst>
          </p:cNvPr>
          <p:cNvSpPr>
            <a:spLocks noGrp="1"/>
          </p:cNvSpPr>
          <p:nvPr/>
        </p:nvSpPr>
        <p:spPr>
          <a:xfrm>
            <a:off x="4210050" y="2457450"/>
            <a:ext cx="3143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Create one consistent finding schema.</a:t>
            </a:r>
          </a:p>
        </p:txBody>
      </p:sp>
      <p:sp>
        <p:nvSpPr>
          <p:cNvPr id="9" name="obj-no-2">
            <a:extLst>
              <a:ext uri="{FF2B5EF4-FFF2-40B4-BE49-F238E27FC236}">
                <a16:creationId xmlns:a16="http://schemas.microsoft.com/office/drawing/2014/main" id="{15503E67-6E6A-423E-B5F8-77365A4A59DB}"/>
              </a:ext>
            </a:extLst>
          </p:cNvPr>
          <p:cNvSpPr>
            <a:spLocks noGrp="1"/>
          </p:cNvSpPr>
          <p:nvPr/>
        </p:nvSpPr>
        <p:spPr>
          <a:xfrm>
            <a:off x="8020050" y="1524000"/>
            <a:ext cx="523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333"/>
          </a:bodyPr>
          <a:lstStyle/>
          <a:p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obj-h-2">
            <a:extLst>
              <a:ext uri="{FF2B5EF4-FFF2-40B4-BE49-F238E27FC236}">
                <a16:creationId xmlns:a16="http://schemas.microsoft.com/office/drawing/2014/main" id="{3DBB18C7-52DB-4DDA-9739-F2C745054690}"/>
              </a:ext>
            </a:extLst>
          </p:cNvPr>
          <p:cNvSpPr>
            <a:spLocks noGrp="1"/>
          </p:cNvSpPr>
          <p:nvPr/>
        </p:nvSpPr>
        <p:spPr>
          <a:xfrm>
            <a:off x="8020050" y="1981200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7436"/>
          </a:bodyPr>
          <a:lstStyle/>
          <a:p>
            <a:pPr algn="l">
              <a:defRPr sz="19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Prioritize</a:t>
            </a:r>
          </a:p>
        </p:txBody>
      </p:sp>
      <p:sp>
        <p:nvSpPr>
          <p:cNvPr id="11" name="obj-b-2">
            <a:extLst>
              <a:ext uri="{FF2B5EF4-FFF2-40B4-BE49-F238E27FC236}">
                <a16:creationId xmlns:a16="http://schemas.microsoft.com/office/drawing/2014/main" id="{9409CB0A-FD2F-401B-8CF6-6077C844B160}"/>
              </a:ext>
            </a:extLst>
          </p:cNvPr>
          <p:cNvSpPr>
            <a:spLocks noGrp="1"/>
          </p:cNvSpPr>
          <p:nvPr/>
        </p:nvSpPr>
        <p:spPr>
          <a:xfrm>
            <a:off x="8020050" y="2457450"/>
            <a:ext cx="3143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Rank vulnerabilities by risk and context.</a:t>
            </a:r>
          </a:p>
        </p:txBody>
      </p:sp>
      <p:sp>
        <p:nvSpPr>
          <p:cNvPr id="12" name="obj-no-3">
            <a:extLst>
              <a:ext uri="{FF2B5EF4-FFF2-40B4-BE49-F238E27FC236}">
                <a16:creationId xmlns:a16="http://schemas.microsoft.com/office/drawing/2014/main" id="{28DAE24A-FB81-4510-B42A-2410D0CD8A7E}"/>
              </a:ext>
            </a:extLst>
          </p:cNvPr>
          <p:cNvSpPr>
            <a:spLocks noGrp="1"/>
          </p:cNvSpPr>
          <p:nvPr/>
        </p:nvSpPr>
        <p:spPr>
          <a:xfrm>
            <a:off x="400050" y="3619500"/>
            <a:ext cx="523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333"/>
          </a:bodyPr>
          <a:lstStyle/>
          <a:p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obj-h-3">
            <a:extLst>
              <a:ext uri="{FF2B5EF4-FFF2-40B4-BE49-F238E27FC236}">
                <a16:creationId xmlns:a16="http://schemas.microsoft.com/office/drawing/2014/main" id="{22645E14-4574-42AF-8C7A-D2AF28860F1D}"/>
              </a:ext>
            </a:extLst>
          </p:cNvPr>
          <p:cNvSpPr>
            <a:spLocks noGrp="1"/>
          </p:cNvSpPr>
          <p:nvPr/>
        </p:nvSpPr>
        <p:spPr>
          <a:xfrm>
            <a:off x="400050" y="4076700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7436"/>
          </a:bodyPr>
          <a:lstStyle/>
          <a:p>
            <a:pPr algn="l">
              <a:defRPr sz="19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Recommend</a:t>
            </a:r>
          </a:p>
        </p:txBody>
      </p:sp>
      <p:sp>
        <p:nvSpPr>
          <p:cNvPr id="14" name="obj-b-3">
            <a:extLst>
              <a:ext uri="{FF2B5EF4-FFF2-40B4-BE49-F238E27FC236}">
                <a16:creationId xmlns:a16="http://schemas.microsoft.com/office/drawing/2014/main" id="{462A7BF5-3C62-4C62-B752-BDE7191A53D8}"/>
              </a:ext>
            </a:extLst>
          </p:cNvPr>
          <p:cNvSpPr>
            <a:spLocks noGrp="1"/>
          </p:cNvSpPr>
          <p:nvPr/>
        </p:nvSpPr>
        <p:spPr>
          <a:xfrm>
            <a:off x="400050" y="4552950"/>
            <a:ext cx="3143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Suggest the next authorized assessment step.</a:t>
            </a:r>
          </a:p>
        </p:txBody>
      </p:sp>
      <p:sp>
        <p:nvSpPr>
          <p:cNvPr id="15" name="obj-no-4">
            <a:extLst>
              <a:ext uri="{FF2B5EF4-FFF2-40B4-BE49-F238E27FC236}">
                <a16:creationId xmlns:a16="http://schemas.microsoft.com/office/drawing/2014/main" id="{0D25CF08-6A6E-446E-A6A4-D7642AF97472}"/>
              </a:ext>
            </a:extLst>
          </p:cNvPr>
          <p:cNvSpPr>
            <a:spLocks noGrp="1"/>
          </p:cNvSpPr>
          <p:nvPr/>
        </p:nvSpPr>
        <p:spPr>
          <a:xfrm>
            <a:off x="4210050" y="3619500"/>
            <a:ext cx="523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333"/>
          </a:bodyPr>
          <a:lstStyle/>
          <a:p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6" name="obj-h-4">
            <a:extLst>
              <a:ext uri="{FF2B5EF4-FFF2-40B4-BE49-F238E27FC236}">
                <a16:creationId xmlns:a16="http://schemas.microsoft.com/office/drawing/2014/main" id="{EFD408E8-B013-4FEC-B9D5-3F6F066F41C9}"/>
              </a:ext>
            </a:extLst>
          </p:cNvPr>
          <p:cNvSpPr>
            <a:spLocks noGrp="1"/>
          </p:cNvSpPr>
          <p:nvPr/>
        </p:nvSpPr>
        <p:spPr>
          <a:xfrm>
            <a:off x="4210050" y="4076700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7436"/>
          </a:bodyPr>
          <a:lstStyle/>
          <a:p>
            <a:pPr algn="l">
              <a:defRPr sz="19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17" name="obj-b-4">
            <a:extLst>
              <a:ext uri="{FF2B5EF4-FFF2-40B4-BE49-F238E27FC236}">
                <a16:creationId xmlns:a16="http://schemas.microsoft.com/office/drawing/2014/main" id="{34025495-0984-4528-ABA4-4BA534DCAC9B}"/>
              </a:ext>
            </a:extLst>
          </p:cNvPr>
          <p:cNvSpPr>
            <a:spLocks noGrp="1"/>
          </p:cNvSpPr>
          <p:nvPr/>
        </p:nvSpPr>
        <p:spPr>
          <a:xfrm>
            <a:off x="4210050" y="4552950"/>
            <a:ext cx="3143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Show the factors behind every recommendation.</a:t>
            </a:r>
          </a:p>
        </p:txBody>
      </p:sp>
      <p:sp>
        <p:nvSpPr>
          <p:cNvPr id="18" name="obj-no-5">
            <a:extLst>
              <a:ext uri="{FF2B5EF4-FFF2-40B4-BE49-F238E27FC236}">
                <a16:creationId xmlns:a16="http://schemas.microsoft.com/office/drawing/2014/main" id="{26860284-9C04-42DF-889C-D724101B9777}"/>
              </a:ext>
            </a:extLst>
          </p:cNvPr>
          <p:cNvSpPr>
            <a:spLocks noGrp="1"/>
          </p:cNvSpPr>
          <p:nvPr/>
        </p:nvSpPr>
        <p:spPr>
          <a:xfrm>
            <a:off x="8020050" y="3619500"/>
            <a:ext cx="523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333"/>
          </a:bodyPr>
          <a:lstStyle/>
          <a:p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19" name="obj-h-5">
            <a:extLst>
              <a:ext uri="{FF2B5EF4-FFF2-40B4-BE49-F238E27FC236}">
                <a16:creationId xmlns:a16="http://schemas.microsoft.com/office/drawing/2014/main" id="{515311FF-40F2-4FF3-B77B-34CFBF50373B}"/>
              </a:ext>
            </a:extLst>
          </p:cNvPr>
          <p:cNvSpPr>
            <a:spLocks noGrp="1"/>
          </p:cNvSpPr>
          <p:nvPr/>
        </p:nvSpPr>
        <p:spPr>
          <a:xfrm>
            <a:off x="8020050" y="4076700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7436"/>
          </a:bodyPr>
          <a:lstStyle/>
          <a:p>
            <a:pPr algn="l">
              <a:defRPr sz="19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Evaluate</a:t>
            </a:r>
          </a:p>
        </p:txBody>
      </p:sp>
      <p:sp>
        <p:nvSpPr>
          <p:cNvPr id="20" name="obj-b-5">
            <a:extLst>
              <a:ext uri="{FF2B5EF4-FFF2-40B4-BE49-F238E27FC236}">
                <a16:creationId xmlns:a16="http://schemas.microsoft.com/office/drawing/2014/main" id="{3C89A02F-87F4-4320-9E31-51522DD6ED78}"/>
              </a:ext>
            </a:extLst>
          </p:cNvPr>
          <p:cNvSpPr>
            <a:spLocks noGrp="1"/>
          </p:cNvSpPr>
          <p:nvPr/>
        </p:nvSpPr>
        <p:spPr>
          <a:xfrm>
            <a:off x="8020050" y="4552950"/>
            <a:ext cx="3143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Measure time saved, ranking quality, and usability.</a:t>
            </a:r>
          </a:p>
        </p:txBody>
      </p:sp>
    </p:spTree>
    <p:extLst>
      <p:ext uri="{BB962C8B-B14F-4D97-AF65-F5344CB8AC3E}">
        <p14:creationId xmlns:p14="http://schemas.microsoft.com/office/powerpoint/2010/main" val="1951882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-6">
            <a:extLst>
              <a:ext uri="{FF2B5EF4-FFF2-40B4-BE49-F238E27FC236}">
                <a16:creationId xmlns:a16="http://schemas.microsoft.com/office/drawing/2014/main" id="{934E2903-1296-4865-A901-24841117D647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8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 hybrid algorithm balances accuracy, clarity, and control</a:t>
            </a:r>
          </a:p>
        </p:txBody>
      </p:sp>
      <p:sp>
        <p:nvSpPr>
          <p:cNvPr id="2" name="page-6">
            <a:extLst>
              <a:ext uri="{FF2B5EF4-FFF2-40B4-BE49-F238E27FC236}">
                <a16:creationId xmlns:a16="http://schemas.microsoft.com/office/drawing/2014/main" id="{686641AA-6507-404F-A9AE-585CF5B29D7D}"/>
              </a:ext>
            </a:extLst>
          </p:cNvPr>
          <p:cNvSpPr>
            <a:spLocks noGrp="1"/>
          </p:cNvSpPr>
          <p:nvPr/>
        </p:nvSpPr>
        <p:spPr>
          <a:xfrm>
            <a:off x="11239500" y="6305550"/>
            <a:ext cx="52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r"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alg-bar-0">
            <a:extLst>
              <a:ext uri="{FF2B5EF4-FFF2-40B4-BE49-F238E27FC236}">
                <a16:creationId xmlns:a16="http://schemas.microsoft.com/office/drawing/2014/main" id="{DD5704A4-5FFB-46CD-82FE-A3843A4A8DBC}"/>
              </a:ext>
            </a:extLst>
          </p:cNvPr>
          <p:cNvSpPr>
            <a:spLocks noGrp="1"/>
          </p:cNvSpPr>
          <p:nvPr/>
        </p:nvSpPr>
        <p:spPr>
          <a:xfrm>
            <a:off x="400050" y="1476375"/>
            <a:ext cx="95250" cy="781050"/>
          </a:xfrm>
          <a:prstGeom prst="roundRect">
            <a:avLst>
              <a:gd name="adj" fmla="val 50000"/>
            </a:avLst>
          </a:prstGeom>
          <a:solidFill>
            <a:srgbClr val="6DCBF4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alg-h-0">
            <a:extLst>
              <a:ext uri="{FF2B5EF4-FFF2-40B4-BE49-F238E27FC236}">
                <a16:creationId xmlns:a16="http://schemas.microsoft.com/office/drawing/2014/main" id="{0BCECE61-E5D4-4406-ABAC-3B0DF0F94560}"/>
              </a:ext>
            </a:extLst>
          </p:cNvPr>
          <p:cNvSpPr>
            <a:spLocks noGrp="1"/>
          </p:cNvSpPr>
          <p:nvPr/>
        </p:nvSpPr>
        <p:spPr>
          <a:xfrm>
            <a:off x="742950" y="1476375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722"/>
          </a:bodyPr>
          <a:lstStyle/>
          <a:p>
            <a:pPr algn="l">
              <a:defRPr sz="18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Risk baseline</a:t>
            </a:r>
          </a:p>
        </p:txBody>
      </p:sp>
      <p:sp>
        <p:nvSpPr>
          <p:cNvPr id="5" name="alg-b-0">
            <a:extLst>
              <a:ext uri="{FF2B5EF4-FFF2-40B4-BE49-F238E27FC236}">
                <a16:creationId xmlns:a16="http://schemas.microsoft.com/office/drawing/2014/main" id="{A1FFD5D9-EF74-4D1E-AD68-11AFB3347C6B}"/>
              </a:ext>
            </a:extLst>
          </p:cNvPr>
          <p:cNvSpPr>
            <a:spLocks noGrp="1"/>
          </p:cNvSpPr>
          <p:nvPr/>
        </p:nvSpPr>
        <p:spPr>
          <a:xfrm>
            <a:off x="3333750" y="1476375"/>
            <a:ext cx="7667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CVSS score + exploit evidence + asset criticality + exposure</a:t>
            </a:r>
          </a:p>
        </p:txBody>
      </p:sp>
      <p:sp>
        <p:nvSpPr>
          <p:cNvPr id="6" name="alg-bar-1">
            <a:extLst>
              <a:ext uri="{FF2B5EF4-FFF2-40B4-BE49-F238E27FC236}">
                <a16:creationId xmlns:a16="http://schemas.microsoft.com/office/drawing/2014/main" id="{2FE3461D-4EE3-46FA-A57C-5D85950A8AD9}"/>
              </a:ext>
            </a:extLst>
          </p:cNvPr>
          <p:cNvSpPr>
            <a:spLocks noGrp="1"/>
          </p:cNvSpPr>
          <p:nvPr/>
        </p:nvSpPr>
        <p:spPr>
          <a:xfrm>
            <a:off x="400050" y="2543175"/>
            <a:ext cx="95250" cy="781050"/>
          </a:xfrm>
          <a:prstGeom prst="roundRect">
            <a:avLst>
              <a:gd name="adj" fmla="val 50000"/>
            </a:avLst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alg-h-1">
            <a:extLst>
              <a:ext uri="{FF2B5EF4-FFF2-40B4-BE49-F238E27FC236}">
                <a16:creationId xmlns:a16="http://schemas.microsoft.com/office/drawing/2014/main" id="{5508F788-AF2D-4D13-B921-19168FACBAA0}"/>
              </a:ext>
            </a:extLst>
          </p:cNvPr>
          <p:cNvSpPr>
            <a:spLocks noGrp="1"/>
          </p:cNvSpPr>
          <p:nvPr/>
        </p:nvSpPr>
        <p:spPr>
          <a:xfrm>
            <a:off x="742950" y="2543175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722"/>
          </a:bodyPr>
          <a:lstStyle/>
          <a:p>
            <a:pPr algn="l">
              <a:defRPr sz="18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Learning-to-rank</a:t>
            </a:r>
          </a:p>
        </p:txBody>
      </p:sp>
      <p:sp>
        <p:nvSpPr>
          <p:cNvPr id="8" name="alg-b-1">
            <a:extLst>
              <a:ext uri="{FF2B5EF4-FFF2-40B4-BE49-F238E27FC236}">
                <a16:creationId xmlns:a16="http://schemas.microsoft.com/office/drawing/2014/main" id="{E3A3805D-D344-490C-B862-52AE6AB0DFD6}"/>
              </a:ext>
            </a:extLst>
          </p:cNvPr>
          <p:cNvSpPr>
            <a:spLocks noGrp="1"/>
          </p:cNvSpPr>
          <p:nvPr/>
        </p:nvSpPr>
        <p:spPr>
          <a:xfrm>
            <a:off x="3333750" y="2543175"/>
            <a:ext cx="7667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Gradient-boosted trees or random forest trained on labeled priorities</a:t>
            </a:r>
          </a:p>
        </p:txBody>
      </p:sp>
      <p:sp>
        <p:nvSpPr>
          <p:cNvPr id="9" name="alg-bar-2">
            <a:extLst>
              <a:ext uri="{FF2B5EF4-FFF2-40B4-BE49-F238E27FC236}">
                <a16:creationId xmlns:a16="http://schemas.microsoft.com/office/drawing/2014/main" id="{F6F8E502-12A5-4F4F-B87F-1631E4426ABC}"/>
              </a:ext>
            </a:extLst>
          </p:cNvPr>
          <p:cNvSpPr>
            <a:spLocks noGrp="1"/>
          </p:cNvSpPr>
          <p:nvPr/>
        </p:nvSpPr>
        <p:spPr>
          <a:xfrm>
            <a:off x="400050" y="3609975"/>
            <a:ext cx="95250" cy="781050"/>
          </a:xfrm>
          <a:prstGeom prst="roundRect">
            <a:avLst>
              <a:gd name="adj" fmla="val 50000"/>
            </a:avLst>
          </a:prstGeom>
          <a:solidFill>
            <a:srgbClr val="6DCBF4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alg-h-2">
            <a:extLst>
              <a:ext uri="{FF2B5EF4-FFF2-40B4-BE49-F238E27FC236}">
                <a16:creationId xmlns:a16="http://schemas.microsoft.com/office/drawing/2014/main" id="{D356F380-FE6A-44F9-93F6-DD7CF5BC41CC}"/>
              </a:ext>
            </a:extLst>
          </p:cNvPr>
          <p:cNvSpPr>
            <a:spLocks noGrp="1"/>
          </p:cNvSpPr>
          <p:nvPr/>
        </p:nvSpPr>
        <p:spPr>
          <a:xfrm>
            <a:off x="742950" y="3609975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722"/>
          </a:bodyPr>
          <a:lstStyle/>
          <a:p>
            <a:pPr algn="l">
              <a:defRPr sz="18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Action policy</a:t>
            </a:r>
          </a:p>
        </p:txBody>
      </p:sp>
      <p:sp>
        <p:nvSpPr>
          <p:cNvPr id="11" name="alg-b-2">
            <a:extLst>
              <a:ext uri="{FF2B5EF4-FFF2-40B4-BE49-F238E27FC236}">
                <a16:creationId xmlns:a16="http://schemas.microsoft.com/office/drawing/2014/main" id="{CAA6349D-7713-4A49-AD11-C03B80FFFE8F}"/>
              </a:ext>
            </a:extLst>
          </p:cNvPr>
          <p:cNvSpPr>
            <a:spLocks noGrp="1"/>
          </p:cNvSpPr>
          <p:nvPr/>
        </p:nvSpPr>
        <p:spPr>
          <a:xfrm>
            <a:off x="3333750" y="3609975"/>
            <a:ext cx="7667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Rule-based safety gates select only permitted assessment actions</a:t>
            </a:r>
          </a:p>
        </p:txBody>
      </p:sp>
      <p:sp>
        <p:nvSpPr>
          <p:cNvPr id="12" name="alg-bar-3">
            <a:extLst>
              <a:ext uri="{FF2B5EF4-FFF2-40B4-BE49-F238E27FC236}">
                <a16:creationId xmlns:a16="http://schemas.microsoft.com/office/drawing/2014/main" id="{0A6F69B9-C486-4F8C-95B4-40A9CC992A17}"/>
              </a:ext>
            </a:extLst>
          </p:cNvPr>
          <p:cNvSpPr>
            <a:spLocks noGrp="1"/>
          </p:cNvSpPr>
          <p:nvPr/>
        </p:nvSpPr>
        <p:spPr>
          <a:xfrm>
            <a:off x="400050" y="4676775"/>
            <a:ext cx="95250" cy="781050"/>
          </a:xfrm>
          <a:prstGeom prst="roundRect">
            <a:avLst>
              <a:gd name="adj" fmla="val 50000"/>
            </a:avLst>
          </a:prstGeom>
          <a:solidFill>
            <a:srgbClr val="6DCBF4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alg-h-3">
            <a:extLst>
              <a:ext uri="{FF2B5EF4-FFF2-40B4-BE49-F238E27FC236}">
                <a16:creationId xmlns:a16="http://schemas.microsoft.com/office/drawing/2014/main" id="{CC5C24BB-0206-43BE-A721-81FC036A08E2}"/>
              </a:ext>
            </a:extLst>
          </p:cNvPr>
          <p:cNvSpPr>
            <a:spLocks noGrp="1"/>
          </p:cNvSpPr>
          <p:nvPr/>
        </p:nvSpPr>
        <p:spPr>
          <a:xfrm>
            <a:off x="742950" y="4676775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722"/>
          </a:bodyPr>
          <a:lstStyle/>
          <a:p>
            <a:pPr algn="l">
              <a:defRPr sz="18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Explanation</a:t>
            </a:r>
          </a:p>
        </p:txBody>
      </p:sp>
      <p:sp>
        <p:nvSpPr>
          <p:cNvPr id="14" name="alg-b-3">
            <a:extLst>
              <a:ext uri="{FF2B5EF4-FFF2-40B4-BE49-F238E27FC236}">
                <a16:creationId xmlns:a16="http://schemas.microsoft.com/office/drawing/2014/main" id="{07DB6706-EA01-4DE1-ABB1-63CE7322C182}"/>
              </a:ext>
            </a:extLst>
          </p:cNvPr>
          <p:cNvSpPr>
            <a:spLocks noGrp="1"/>
          </p:cNvSpPr>
          <p:nvPr/>
        </p:nvSpPr>
        <p:spPr>
          <a:xfrm>
            <a:off x="3333750" y="4676775"/>
            <a:ext cx="7667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Feature contribution and plain-language rationale accompany each rank</a:t>
            </a:r>
          </a:p>
        </p:txBody>
      </p:sp>
      <p:sp>
        <p:nvSpPr>
          <p:cNvPr id="15" name="formula">
            <a:extLst>
              <a:ext uri="{FF2B5EF4-FFF2-40B4-BE49-F238E27FC236}">
                <a16:creationId xmlns:a16="http://schemas.microsoft.com/office/drawing/2014/main" id="{2CAD196C-DCE4-4CCE-8F4A-8E92A77EB156}"/>
              </a:ext>
            </a:extLst>
          </p:cNvPr>
          <p:cNvSpPr>
            <a:spLocks noGrp="1"/>
          </p:cNvSpPr>
          <p:nvPr/>
        </p:nvSpPr>
        <p:spPr>
          <a:xfrm>
            <a:off x="742950" y="5953125"/>
            <a:ext cx="1000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7273"/>
          </a:bodyPr>
          <a:lstStyle/>
          <a:p>
            <a:pPr algn="l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Priority = f(severity, exploitability, asset value, exposure, confidence)</a:t>
            </a:r>
          </a:p>
        </p:txBody>
      </p:sp>
    </p:spTree>
    <p:extLst>
      <p:ext uri="{BB962C8B-B14F-4D97-AF65-F5344CB8AC3E}">
        <p14:creationId xmlns:p14="http://schemas.microsoft.com/office/powerpoint/2010/main" val="11470526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-7">
            <a:extLst>
              <a:ext uri="{FF2B5EF4-FFF2-40B4-BE49-F238E27FC236}">
                <a16:creationId xmlns:a16="http://schemas.microsoft.com/office/drawing/2014/main" id="{C3DC7F3F-2E42-4E34-9C72-E65728926FC0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956"/>
          </a:bodyPr>
          <a:lstStyle/>
          <a:p>
            <a:pPr algn="l">
              <a:defRPr sz="28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The architecture separates collection, intelligence, and human approval</a:t>
            </a:r>
          </a:p>
        </p:txBody>
      </p:sp>
      <p:sp>
        <p:nvSpPr>
          <p:cNvPr id="2" name="page-7">
            <a:extLst>
              <a:ext uri="{FF2B5EF4-FFF2-40B4-BE49-F238E27FC236}">
                <a16:creationId xmlns:a16="http://schemas.microsoft.com/office/drawing/2014/main" id="{4A4D7C79-B630-42F4-97E0-FA01CFBC2EE7}"/>
              </a:ext>
            </a:extLst>
          </p:cNvPr>
          <p:cNvSpPr>
            <a:spLocks noGrp="1"/>
          </p:cNvSpPr>
          <p:nvPr/>
        </p:nvSpPr>
        <p:spPr>
          <a:xfrm>
            <a:off x="11239500" y="6305550"/>
            <a:ext cx="52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r"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arrow-0">
            <a:extLst>
              <a:ext uri="{FF2B5EF4-FFF2-40B4-BE49-F238E27FC236}">
                <a16:creationId xmlns:a16="http://schemas.microsoft.com/office/drawing/2014/main" id="{120E4C92-43D0-4A5D-9D63-E978D271C6E0}"/>
              </a:ext>
            </a:extLst>
          </p:cNvPr>
          <p:cNvSpPr>
            <a:spLocks noGrp="1"/>
          </p:cNvSpPr>
          <p:nvPr/>
        </p:nvSpPr>
        <p:spPr>
          <a:xfrm>
            <a:off x="2762250" y="2971800"/>
            <a:ext cx="381000" cy="323850"/>
          </a:xfrm>
          <a:prstGeom prst="rightArrow">
            <a:avLst/>
          </a:prstGeom>
          <a:solidFill>
            <a:srgbClr val="6DCBF4"/>
          </a:solidFill>
          <a:ln w="0">
            <a:solidFill>
              <a:srgbClr val="6DCB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arrow-1">
            <a:extLst>
              <a:ext uri="{FF2B5EF4-FFF2-40B4-BE49-F238E27FC236}">
                <a16:creationId xmlns:a16="http://schemas.microsoft.com/office/drawing/2014/main" id="{D13B23D7-6B28-4172-A581-3C61B67F6F22}"/>
              </a:ext>
            </a:extLst>
          </p:cNvPr>
          <p:cNvSpPr>
            <a:spLocks noGrp="1"/>
          </p:cNvSpPr>
          <p:nvPr/>
        </p:nvSpPr>
        <p:spPr>
          <a:xfrm>
            <a:off x="5381625" y="2971800"/>
            <a:ext cx="381000" cy="323850"/>
          </a:xfrm>
          <a:prstGeom prst="rightArrow">
            <a:avLst/>
          </a:prstGeom>
          <a:solidFill>
            <a:srgbClr val="6DCBF4"/>
          </a:solidFill>
          <a:ln w="0">
            <a:solidFill>
              <a:srgbClr val="6DCB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arrow-2">
            <a:extLst>
              <a:ext uri="{FF2B5EF4-FFF2-40B4-BE49-F238E27FC236}">
                <a16:creationId xmlns:a16="http://schemas.microsoft.com/office/drawing/2014/main" id="{486B9BEC-D761-4FFF-9ED9-E1D208D175E0}"/>
              </a:ext>
            </a:extLst>
          </p:cNvPr>
          <p:cNvSpPr>
            <a:spLocks noGrp="1"/>
          </p:cNvSpPr>
          <p:nvPr/>
        </p:nvSpPr>
        <p:spPr>
          <a:xfrm>
            <a:off x="8001000" y="2971800"/>
            <a:ext cx="381000" cy="323850"/>
          </a:xfrm>
          <a:prstGeom prst="rightArrow">
            <a:avLst/>
          </a:prstGeom>
          <a:solidFill>
            <a:srgbClr val="6DCBF4"/>
          </a:solidFill>
          <a:ln w="0">
            <a:solidFill>
              <a:srgbClr val="6DCB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node-0">
            <a:extLst>
              <a:ext uri="{FF2B5EF4-FFF2-40B4-BE49-F238E27FC236}">
                <a16:creationId xmlns:a16="http://schemas.microsoft.com/office/drawing/2014/main" id="{3787491F-D5A4-42FA-BB29-D582E2F48702}"/>
              </a:ext>
            </a:extLst>
          </p:cNvPr>
          <p:cNvSpPr>
            <a:spLocks noGrp="1"/>
          </p:cNvSpPr>
          <p:nvPr/>
        </p:nvSpPr>
        <p:spPr>
          <a:xfrm>
            <a:off x="523875" y="2286000"/>
            <a:ext cx="2095500" cy="1809750"/>
          </a:xfrm>
          <a:prstGeom prst="roundRect">
            <a:avLst>
              <a:gd name="adj" fmla="val 6316"/>
            </a:avLst>
          </a:prstGeom>
          <a:solidFill>
            <a:srgbClr val="EDF1F3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node-h-0">
            <a:extLst>
              <a:ext uri="{FF2B5EF4-FFF2-40B4-BE49-F238E27FC236}">
                <a16:creationId xmlns:a16="http://schemas.microsoft.com/office/drawing/2014/main" id="{5AE120DD-2C26-4AA1-9605-D3C491A94C7E}"/>
              </a:ext>
            </a:extLst>
          </p:cNvPr>
          <p:cNvSpPr>
            <a:spLocks noGrp="1"/>
          </p:cNvSpPr>
          <p:nvPr/>
        </p:nvSpPr>
        <p:spPr>
          <a:xfrm>
            <a:off x="714375" y="2524125"/>
            <a:ext cx="171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3580"/>
          </a:bodyPr>
          <a:lstStyle/>
          <a:p>
            <a:pPr algn="l">
              <a:defRPr sz="17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Authorized scope</a:t>
            </a:r>
          </a:p>
        </p:txBody>
      </p:sp>
      <p:sp>
        <p:nvSpPr>
          <p:cNvPr id="8" name="node-b-0">
            <a:extLst>
              <a:ext uri="{FF2B5EF4-FFF2-40B4-BE49-F238E27FC236}">
                <a16:creationId xmlns:a16="http://schemas.microsoft.com/office/drawing/2014/main" id="{DA7CF338-EC14-4D9E-A8A5-17D65612E880}"/>
              </a:ext>
            </a:extLst>
          </p:cNvPr>
          <p:cNvSpPr>
            <a:spLocks noGrp="1"/>
          </p:cNvSpPr>
          <p:nvPr/>
        </p:nvSpPr>
        <p:spPr>
          <a:xfrm>
            <a:off x="714375" y="3076575"/>
            <a:ext cx="17145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9076"/>
          </a:bodyPr>
          <a:lstStyle/>
          <a:p>
            <a:pPr algn="l">
              <a:defRPr sz="14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Approved targets</a:t>
            </a:r>
          </a:p>
          <a:p>
            <a:pPr algn="l">
              <a:defRPr sz="14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Rules of engagement</a:t>
            </a:r>
          </a:p>
          <a:p>
            <a:pPr algn="l">
              <a:defRPr sz="14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User permissions</a:t>
            </a:r>
          </a:p>
        </p:txBody>
      </p:sp>
      <p:sp>
        <p:nvSpPr>
          <p:cNvPr id="9" name="node-1">
            <a:extLst>
              <a:ext uri="{FF2B5EF4-FFF2-40B4-BE49-F238E27FC236}">
                <a16:creationId xmlns:a16="http://schemas.microsoft.com/office/drawing/2014/main" id="{A999E8E6-ADFD-497B-8A8A-DC25222F53C9}"/>
              </a:ext>
            </a:extLst>
          </p:cNvPr>
          <p:cNvSpPr>
            <a:spLocks noGrp="1"/>
          </p:cNvSpPr>
          <p:nvPr/>
        </p:nvSpPr>
        <p:spPr>
          <a:xfrm>
            <a:off x="3143250" y="2286000"/>
            <a:ext cx="2095500" cy="1809750"/>
          </a:xfrm>
          <a:prstGeom prst="roundRect">
            <a:avLst>
              <a:gd name="adj" fmla="val 6316"/>
            </a:avLst>
          </a:prstGeom>
          <a:solidFill>
            <a:srgbClr val="EDF1F3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node-h-1">
            <a:extLst>
              <a:ext uri="{FF2B5EF4-FFF2-40B4-BE49-F238E27FC236}">
                <a16:creationId xmlns:a16="http://schemas.microsoft.com/office/drawing/2014/main" id="{57F48ABE-154D-4142-8424-D7B4027773CD}"/>
              </a:ext>
            </a:extLst>
          </p:cNvPr>
          <p:cNvSpPr>
            <a:spLocks noGrp="1"/>
          </p:cNvSpPr>
          <p:nvPr/>
        </p:nvSpPr>
        <p:spPr>
          <a:xfrm>
            <a:off x="3333750" y="2524125"/>
            <a:ext cx="171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7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Tool adapters</a:t>
            </a:r>
          </a:p>
        </p:txBody>
      </p:sp>
      <p:sp>
        <p:nvSpPr>
          <p:cNvPr id="11" name="node-b-1">
            <a:extLst>
              <a:ext uri="{FF2B5EF4-FFF2-40B4-BE49-F238E27FC236}">
                <a16:creationId xmlns:a16="http://schemas.microsoft.com/office/drawing/2014/main" id="{5C8A546A-606A-4E9B-BBDE-0F264481ABA0}"/>
              </a:ext>
            </a:extLst>
          </p:cNvPr>
          <p:cNvSpPr>
            <a:spLocks noGrp="1"/>
          </p:cNvSpPr>
          <p:nvPr/>
        </p:nvSpPr>
        <p:spPr>
          <a:xfrm>
            <a:off x="3333750" y="3076575"/>
            <a:ext cx="17145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Nmap</a:t>
            </a:r>
          </a:p>
          <a:p>
            <a:pPr algn="l">
              <a:defRPr sz="14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Nuclei</a:t>
            </a:r>
          </a:p>
          <a:p>
            <a:pPr algn="l">
              <a:defRPr sz="14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OWASP ZAP</a:t>
            </a:r>
          </a:p>
        </p:txBody>
      </p:sp>
      <p:sp>
        <p:nvSpPr>
          <p:cNvPr id="12" name="node-2">
            <a:extLst>
              <a:ext uri="{FF2B5EF4-FFF2-40B4-BE49-F238E27FC236}">
                <a16:creationId xmlns:a16="http://schemas.microsoft.com/office/drawing/2014/main" id="{BF70D59A-C73D-469C-A7B3-249F2D24C826}"/>
              </a:ext>
            </a:extLst>
          </p:cNvPr>
          <p:cNvSpPr>
            <a:spLocks noGrp="1"/>
          </p:cNvSpPr>
          <p:nvPr/>
        </p:nvSpPr>
        <p:spPr>
          <a:xfrm>
            <a:off x="5762625" y="2286000"/>
            <a:ext cx="2095500" cy="1809750"/>
          </a:xfrm>
          <a:prstGeom prst="roundRect">
            <a:avLst>
              <a:gd name="adj" fmla="val 6316"/>
            </a:avLst>
          </a:prstGeom>
          <a:solidFill>
            <a:srgbClr val="17324D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node-h-2">
            <a:extLst>
              <a:ext uri="{FF2B5EF4-FFF2-40B4-BE49-F238E27FC236}">
                <a16:creationId xmlns:a16="http://schemas.microsoft.com/office/drawing/2014/main" id="{F738D7F2-54BA-4585-A582-C03002AC8C16}"/>
              </a:ext>
            </a:extLst>
          </p:cNvPr>
          <p:cNvSpPr>
            <a:spLocks noGrp="1"/>
          </p:cNvSpPr>
          <p:nvPr/>
        </p:nvSpPr>
        <p:spPr>
          <a:xfrm>
            <a:off x="5953125" y="2524125"/>
            <a:ext cx="171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8928"/>
          </a:bodyPr>
          <a:lstStyle/>
          <a:p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 decision engine</a:t>
            </a:r>
          </a:p>
        </p:txBody>
      </p:sp>
      <p:sp>
        <p:nvSpPr>
          <p:cNvPr id="14" name="node-b-2">
            <a:extLst>
              <a:ext uri="{FF2B5EF4-FFF2-40B4-BE49-F238E27FC236}">
                <a16:creationId xmlns:a16="http://schemas.microsoft.com/office/drawing/2014/main" id="{F3AEA402-80F3-49F0-B525-526CF190D986}"/>
              </a:ext>
            </a:extLst>
          </p:cNvPr>
          <p:cNvSpPr>
            <a:spLocks noGrp="1"/>
          </p:cNvSpPr>
          <p:nvPr/>
        </p:nvSpPr>
        <p:spPr>
          <a:xfrm>
            <a:off x="5953125" y="3076575"/>
            <a:ext cx="17145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Normalize</a:t>
            </a:r>
          </a:p>
          <a:p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Prioritize</a:t>
            </a:r>
          </a:p>
          <a:p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15" name="node-3">
            <a:extLst>
              <a:ext uri="{FF2B5EF4-FFF2-40B4-BE49-F238E27FC236}">
                <a16:creationId xmlns:a16="http://schemas.microsoft.com/office/drawing/2014/main" id="{7BFEDB16-0866-4AF4-9725-7B6EB6468379}"/>
              </a:ext>
            </a:extLst>
          </p:cNvPr>
          <p:cNvSpPr>
            <a:spLocks noGrp="1"/>
          </p:cNvSpPr>
          <p:nvPr/>
        </p:nvSpPr>
        <p:spPr>
          <a:xfrm>
            <a:off x="8382000" y="2286000"/>
            <a:ext cx="2095500" cy="1809750"/>
          </a:xfrm>
          <a:prstGeom prst="roundRect">
            <a:avLst>
              <a:gd name="adj" fmla="val 6316"/>
            </a:avLst>
          </a:prstGeom>
          <a:solidFill>
            <a:srgbClr val="EDF1F3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node-h-3">
            <a:extLst>
              <a:ext uri="{FF2B5EF4-FFF2-40B4-BE49-F238E27FC236}">
                <a16:creationId xmlns:a16="http://schemas.microsoft.com/office/drawing/2014/main" id="{6396F01A-7B4C-4DA3-8030-8461E3520562}"/>
              </a:ext>
            </a:extLst>
          </p:cNvPr>
          <p:cNvSpPr>
            <a:spLocks noGrp="1"/>
          </p:cNvSpPr>
          <p:nvPr/>
        </p:nvSpPr>
        <p:spPr>
          <a:xfrm>
            <a:off x="8572500" y="2524125"/>
            <a:ext cx="171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7293"/>
          </a:bodyPr>
          <a:lstStyle/>
          <a:p>
            <a:pPr algn="l">
              <a:defRPr sz="17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Analyst workspace</a:t>
            </a:r>
          </a:p>
        </p:txBody>
      </p:sp>
      <p:sp>
        <p:nvSpPr>
          <p:cNvPr id="17" name="node-b-3">
            <a:extLst>
              <a:ext uri="{FF2B5EF4-FFF2-40B4-BE49-F238E27FC236}">
                <a16:creationId xmlns:a16="http://schemas.microsoft.com/office/drawing/2014/main" id="{261DBC0A-CE9D-4C91-A8F3-0A99CFAF774A}"/>
              </a:ext>
            </a:extLst>
          </p:cNvPr>
          <p:cNvSpPr>
            <a:spLocks noGrp="1"/>
          </p:cNvSpPr>
          <p:nvPr/>
        </p:nvSpPr>
        <p:spPr>
          <a:xfrm>
            <a:off x="8572500" y="3076575"/>
            <a:ext cx="17145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Approve next step</a:t>
            </a:r>
          </a:p>
          <a:p>
            <a:pPr algn="l">
              <a:defRPr sz="14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Track evidence</a:t>
            </a:r>
          </a:p>
          <a:p>
            <a:pPr algn="l">
              <a:defRPr sz="14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Export report</a:t>
            </a:r>
          </a:p>
        </p:txBody>
      </p:sp>
      <p:sp>
        <p:nvSpPr>
          <p:cNvPr id="18" name="audit-rule">
            <a:extLst>
              <a:ext uri="{FF2B5EF4-FFF2-40B4-BE49-F238E27FC236}">
                <a16:creationId xmlns:a16="http://schemas.microsoft.com/office/drawing/2014/main" id="{E0D36906-EF31-4DA6-9A92-1EC2D0DC7A3A}"/>
              </a:ext>
            </a:extLst>
          </p:cNvPr>
          <p:cNvSpPr>
            <a:spLocks noGrp="1"/>
          </p:cNvSpPr>
          <p:nvPr/>
        </p:nvSpPr>
        <p:spPr>
          <a:xfrm>
            <a:off x="523875" y="4762500"/>
            <a:ext cx="9953625" cy="9525"/>
          </a:xfrm>
          <a:prstGeom prst="roundRect">
            <a:avLst>
              <a:gd name="adj" fmla="val 50000"/>
            </a:avLst>
          </a:prstGeom>
          <a:solidFill>
            <a:srgbClr val="B8C2C8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audit">
            <a:extLst>
              <a:ext uri="{FF2B5EF4-FFF2-40B4-BE49-F238E27FC236}">
                <a16:creationId xmlns:a16="http://schemas.microsoft.com/office/drawing/2014/main" id="{FBEF4025-F705-4D9A-BC9F-ADC0E55FC01E}"/>
              </a:ext>
            </a:extLst>
          </p:cNvPr>
          <p:cNvSpPr>
            <a:spLocks noGrp="1"/>
          </p:cNvSpPr>
          <p:nvPr/>
        </p:nvSpPr>
        <p:spPr>
          <a:xfrm>
            <a:off x="523875" y="5048250"/>
            <a:ext cx="9953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Cross-cutting controls: audit logs · evidence store · role-based access · human approval gates</a:t>
            </a:r>
          </a:p>
        </p:txBody>
      </p:sp>
    </p:spTree>
    <p:extLst>
      <p:ext uri="{BB962C8B-B14F-4D97-AF65-F5344CB8AC3E}">
        <p14:creationId xmlns:p14="http://schemas.microsoft.com/office/powerpoint/2010/main" val="18094071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-8">
            <a:extLst>
              <a:ext uri="{FF2B5EF4-FFF2-40B4-BE49-F238E27FC236}">
                <a16:creationId xmlns:a16="http://schemas.microsoft.com/office/drawing/2014/main" id="{71D38925-1F3B-40B6-A142-BF644B2F2A9F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9372"/>
          </a:bodyPr>
          <a:lstStyle/>
          <a:p>
            <a:pPr algn="l">
              <a:defRPr sz="28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The primary outcome is a working product with publishable evaluation</a:t>
            </a:r>
          </a:p>
        </p:txBody>
      </p:sp>
      <p:sp>
        <p:nvSpPr>
          <p:cNvPr id="2" name="page-8">
            <a:extLst>
              <a:ext uri="{FF2B5EF4-FFF2-40B4-BE49-F238E27FC236}">
                <a16:creationId xmlns:a16="http://schemas.microsoft.com/office/drawing/2014/main" id="{4FF63B44-3922-42B9-86CB-955A0BB17CA7}"/>
              </a:ext>
            </a:extLst>
          </p:cNvPr>
          <p:cNvSpPr>
            <a:spLocks noGrp="1"/>
          </p:cNvSpPr>
          <p:nvPr/>
        </p:nvSpPr>
        <p:spPr>
          <a:xfrm>
            <a:off x="11239500" y="6305550"/>
            <a:ext cx="52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r"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outcome-main">
            <a:extLst>
              <a:ext uri="{FF2B5EF4-FFF2-40B4-BE49-F238E27FC236}">
                <a16:creationId xmlns:a16="http://schemas.microsoft.com/office/drawing/2014/main" id="{D2891370-831B-48B0-9265-AABE1CBF30EB}"/>
              </a:ext>
            </a:extLst>
          </p:cNvPr>
          <p:cNvSpPr>
            <a:spLocks noGrp="1"/>
          </p:cNvSpPr>
          <p:nvPr/>
        </p:nvSpPr>
        <p:spPr>
          <a:xfrm>
            <a:off x="400050" y="1381125"/>
            <a:ext cx="5429250" cy="4000500"/>
          </a:xfrm>
          <a:prstGeom prst="roundRect">
            <a:avLst>
              <a:gd name="adj" fmla="val 2857"/>
            </a:avLst>
          </a:prstGeom>
          <a:solidFill>
            <a:srgbClr val="EAF5FB"/>
          </a:solidFill>
          <a:ln w="9525">
            <a:solidFill>
              <a:srgbClr val="B8C2C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outcome-tag">
            <a:extLst>
              <a:ext uri="{FF2B5EF4-FFF2-40B4-BE49-F238E27FC236}">
                <a16:creationId xmlns:a16="http://schemas.microsoft.com/office/drawing/2014/main" id="{E6A42AA4-B0CE-4125-A300-037290FD01CD}"/>
              </a:ext>
            </a:extLst>
          </p:cNvPr>
          <p:cNvSpPr>
            <a:spLocks noGrp="1"/>
          </p:cNvSpPr>
          <p:nvPr/>
        </p:nvSpPr>
        <p:spPr>
          <a:xfrm>
            <a:off x="714375" y="171450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PRIMARY OUTCOME</a:t>
            </a:r>
          </a:p>
        </p:txBody>
      </p:sp>
      <p:sp>
        <p:nvSpPr>
          <p:cNvPr id="5" name="outcome-title">
            <a:extLst>
              <a:ext uri="{FF2B5EF4-FFF2-40B4-BE49-F238E27FC236}">
                <a16:creationId xmlns:a16="http://schemas.microsoft.com/office/drawing/2014/main" id="{BBED05A5-3D8A-48AF-9D2A-34EA1722BAF8}"/>
              </a:ext>
            </a:extLst>
          </p:cNvPr>
          <p:cNvSpPr>
            <a:spLocks noGrp="1"/>
          </p:cNvSpPr>
          <p:nvPr/>
        </p:nvSpPr>
        <p:spPr>
          <a:xfrm>
            <a:off x="714375" y="2238375"/>
            <a:ext cx="4381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581"/>
          </a:bodyPr>
          <a:lstStyle/>
          <a:p>
            <a:pPr algn="l">
              <a:defRPr sz="26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Web-based product prototype</a:t>
            </a:r>
          </a:p>
        </p:txBody>
      </p:sp>
      <p:sp>
        <p:nvSpPr>
          <p:cNvPr id="6" name="outcome-copy">
            <a:extLst>
              <a:ext uri="{FF2B5EF4-FFF2-40B4-BE49-F238E27FC236}">
                <a16:creationId xmlns:a16="http://schemas.microsoft.com/office/drawing/2014/main" id="{496C7BE0-D886-4392-9569-70D44FD74AE1}"/>
              </a:ext>
            </a:extLst>
          </p:cNvPr>
          <p:cNvSpPr>
            <a:spLocks noGrp="1"/>
          </p:cNvSpPr>
          <p:nvPr/>
        </p:nvSpPr>
        <p:spPr>
          <a:xfrm>
            <a:off x="714375" y="3190875"/>
            <a:ext cx="44767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7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An analyst-facing assistant that imports scan data, ranks findings, explains risk, recommends permitted next actions, and generates an evidence-based report.</a:t>
            </a:r>
          </a:p>
        </p:txBody>
      </p:sp>
      <p:sp>
        <p:nvSpPr>
          <p:cNvPr id="7" name="secondary">
            <a:extLst>
              <a:ext uri="{FF2B5EF4-FFF2-40B4-BE49-F238E27FC236}">
                <a16:creationId xmlns:a16="http://schemas.microsoft.com/office/drawing/2014/main" id="{E21F42D2-2AE2-4933-B8AB-21499C8D4255}"/>
              </a:ext>
            </a:extLst>
          </p:cNvPr>
          <p:cNvSpPr>
            <a:spLocks noGrp="1"/>
          </p:cNvSpPr>
          <p:nvPr/>
        </p:nvSpPr>
        <p:spPr>
          <a:xfrm>
            <a:off x="6477000" y="17145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SECONDARY OUTCOME</a:t>
            </a:r>
          </a:p>
        </p:txBody>
      </p:sp>
      <p:sp>
        <p:nvSpPr>
          <p:cNvPr id="8" name="paper">
            <a:extLst>
              <a:ext uri="{FF2B5EF4-FFF2-40B4-BE49-F238E27FC236}">
                <a16:creationId xmlns:a16="http://schemas.microsoft.com/office/drawing/2014/main" id="{77F023D2-665F-427E-A5C3-79ACC74E85FF}"/>
              </a:ext>
            </a:extLst>
          </p:cNvPr>
          <p:cNvSpPr>
            <a:spLocks noGrp="1"/>
          </p:cNvSpPr>
          <p:nvPr/>
        </p:nvSpPr>
        <p:spPr>
          <a:xfrm>
            <a:off x="6477000" y="2238375"/>
            <a:ext cx="476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3889"/>
          </a:bodyPr>
          <a:lstStyle/>
          <a:p>
            <a:pPr algn="l">
              <a:defRPr sz="22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Research paper / conference communication</a:t>
            </a:r>
          </a:p>
        </p:txBody>
      </p:sp>
      <p:sp>
        <p:nvSpPr>
          <p:cNvPr id="9" name="paper-copy">
            <a:extLst>
              <a:ext uri="{FF2B5EF4-FFF2-40B4-BE49-F238E27FC236}">
                <a16:creationId xmlns:a16="http://schemas.microsoft.com/office/drawing/2014/main" id="{5334CD4E-A3C6-4ADB-AC9B-8473744F9F87}"/>
              </a:ext>
            </a:extLst>
          </p:cNvPr>
          <p:cNvSpPr>
            <a:spLocks noGrp="1"/>
          </p:cNvSpPr>
          <p:nvPr/>
        </p:nvSpPr>
        <p:spPr>
          <a:xfrm>
            <a:off x="6477000" y="3190875"/>
            <a:ext cx="46672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7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Evaluate whether the hybrid ranking approach improves prioritization agreement, reduces review time, and remains understandable to analysts.</a:t>
            </a:r>
          </a:p>
        </p:txBody>
      </p:sp>
      <p:sp>
        <p:nvSpPr>
          <p:cNvPr id="10" name="patent-note">
            <a:extLst>
              <a:ext uri="{FF2B5EF4-FFF2-40B4-BE49-F238E27FC236}">
                <a16:creationId xmlns:a16="http://schemas.microsoft.com/office/drawing/2014/main" id="{FC92FA4B-46F9-4588-BB20-EE2D0BAB4075}"/>
              </a:ext>
            </a:extLst>
          </p:cNvPr>
          <p:cNvSpPr>
            <a:spLocks noGrp="1"/>
          </p:cNvSpPr>
          <p:nvPr/>
        </p:nvSpPr>
        <p:spPr>
          <a:xfrm>
            <a:off x="6477000" y="4905375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982"/>
          </a:bodyPr>
          <a:lstStyle/>
          <a:p>
            <a:pPr algn="l">
              <a:defRPr sz="14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Patent potential can be assessed later if the workflow or ranking method demonstrates genuine novelty.</a:t>
            </a:r>
          </a:p>
        </p:txBody>
      </p:sp>
    </p:spTree>
    <p:extLst>
      <p:ext uri="{BB962C8B-B14F-4D97-AF65-F5344CB8AC3E}">
        <p14:creationId xmlns:p14="http://schemas.microsoft.com/office/powerpoint/2010/main" val="1001558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-9">
            <a:extLst>
              <a:ext uri="{FF2B5EF4-FFF2-40B4-BE49-F238E27FC236}">
                <a16:creationId xmlns:a16="http://schemas.microsoft.com/office/drawing/2014/main" id="{FDB58066-FF37-42DA-815B-816F37BF1A4E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8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Implementation proceeds through four verifiable stages</a:t>
            </a:r>
          </a:p>
        </p:txBody>
      </p:sp>
      <p:sp>
        <p:nvSpPr>
          <p:cNvPr id="2" name="page-9">
            <a:extLst>
              <a:ext uri="{FF2B5EF4-FFF2-40B4-BE49-F238E27FC236}">
                <a16:creationId xmlns:a16="http://schemas.microsoft.com/office/drawing/2014/main" id="{20AE2D46-916C-4F65-85EF-7DA3EC9EA236}"/>
              </a:ext>
            </a:extLst>
          </p:cNvPr>
          <p:cNvSpPr>
            <a:spLocks noGrp="1"/>
          </p:cNvSpPr>
          <p:nvPr/>
        </p:nvSpPr>
        <p:spPr>
          <a:xfrm>
            <a:off x="11239500" y="6305550"/>
            <a:ext cx="52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r"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timeline">
            <a:extLst>
              <a:ext uri="{FF2B5EF4-FFF2-40B4-BE49-F238E27FC236}">
                <a16:creationId xmlns:a16="http://schemas.microsoft.com/office/drawing/2014/main" id="{8D4F7818-FA45-4FE3-AB38-0135C46AA35A}"/>
              </a:ext>
            </a:extLst>
          </p:cNvPr>
          <p:cNvSpPr>
            <a:spLocks noGrp="1"/>
          </p:cNvSpPr>
          <p:nvPr/>
        </p:nvSpPr>
        <p:spPr>
          <a:xfrm>
            <a:off x="714375" y="3143250"/>
            <a:ext cx="8286750" cy="28575"/>
          </a:xfrm>
          <a:prstGeom prst="roundRect">
            <a:avLst>
              <a:gd name="adj" fmla="val 50000"/>
            </a:avLst>
          </a:prstGeom>
          <a:solidFill>
            <a:srgbClr val="101820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dot-0">
            <a:extLst>
              <a:ext uri="{FF2B5EF4-FFF2-40B4-BE49-F238E27FC236}">
                <a16:creationId xmlns:a16="http://schemas.microsoft.com/office/drawing/2014/main" id="{B81471EF-07CE-4ED1-8C21-0A9583EB1186}"/>
              </a:ext>
            </a:extLst>
          </p:cNvPr>
          <p:cNvSpPr>
            <a:spLocks noGrp="1"/>
          </p:cNvSpPr>
          <p:nvPr/>
        </p:nvSpPr>
        <p:spPr>
          <a:xfrm>
            <a:off x="714375" y="3028950"/>
            <a:ext cx="247650" cy="247650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tage-no-0">
            <a:extLst>
              <a:ext uri="{FF2B5EF4-FFF2-40B4-BE49-F238E27FC236}">
                <a16:creationId xmlns:a16="http://schemas.microsoft.com/office/drawing/2014/main" id="{862AEBC2-1138-4A71-B747-D8B2CE1C79F1}"/>
              </a:ext>
            </a:extLst>
          </p:cNvPr>
          <p:cNvSpPr>
            <a:spLocks noGrp="1"/>
          </p:cNvSpPr>
          <p:nvPr/>
        </p:nvSpPr>
        <p:spPr>
          <a:xfrm>
            <a:off x="714375" y="2428875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STAGE 1</a:t>
            </a:r>
          </a:p>
        </p:txBody>
      </p:sp>
      <p:sp>
        <p:nvSpPr>
          <p:cNvPr id="6" name="stage-h-0">
            <a:extLst>
              <a:ext uri="{FF2B5EF4-FFF2-40B4-BE49-F238E27FC236}">
                <a16:creationId xmlns:a16="http://schemas.microsoft.com/office/drawing/2014/main" id="{14B27F31-1E66-49B0-BD79-96C159A46CDC}"/>
              </a:ext>
            </a:extLst>
          </p:cNvPr>
          <p:cNvSpPr>
            <a:spLocks noGrp="1"/>
          </p:cNvSpPr>
          <p:nvPr/>
        </p:nvSpPr>
        <p:spPr>
          <a:xfrm>
            <a:off x="714375" y="3714750"/>
            <a:ext cx="2238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667"/>
          </a:bodyPr>
          <a:lstStyle/>
          <a:p>
            <a:pPr algn="l">
              <a:defRPr sz="18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Foundation</a:t>
            </a:r>
          </a:p>
        </p:txBody>
      </p:sp>
      <p:sp>
        <p:nvSpPr>
          <p:cNvPr id="7" name="stage-b-0">
            <a:extLst>
              <a:ext uri="{FF2B5EF4-FFF2-40B4-BE49-F238E27FC236}">
                <a16:creationId xmlns:a16="http://schemas.microsoft.com/office/drawing/2014/main" id="{064D77E9-47A4-4378-A4B7-6A357A092A87}"/>
              </a:ext>
            </a:extLst>
          </p:cNvPr>
          <p:cNvSpPr>
            <a:spLocks noGrp="1"/>
          </p:cNvSpPr>
          <p:nvPr/>
        </p:nvSpPr>
        <p:spPr>
          <a:xfrm>
            <a:off x="714375" y="4238625"/>
            <a:ext cx="2238375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Scope control, data model, user roles</a:t>
            </a:r>
          </a:p>
        </p:txBody>
      </p:sp>
      <p:sp>
        <p:nvSpPr>
          <p:cNvPr id="8" name="dot-1">
            <a:extLst>
              <a:ext uri="{FF2B5EF4-FFF2-40B4-BE49-F238E27FC236}">
                <a16:creationId xmlns:a16="http://schemas.microsoft.com/office/drawing/2014/main" id="{556E1299-AB21-4060-8C8A-9B759563F110}"/>
              </a:ext>
            </a:extLst>
          </p:cNvPr>
          <p:cNvSpPr>
            <a:spLocks noGrp="1"/>
          </p:cNvSpPr>
          <p:nvPr/>
        </p:nvSpPr>
        <p:spPr>
          <a:xfrm>
            <a:off x="3476625" y="3028950"/>
            <a:ext cx="247650" cy="247650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tage-no-1">
            <a:extLst>
              <a:ext uri="{FF2B5EF4-FFF2-40B4-BE49-F238E27FC236}">
                <a16:creationId xmlns:a16="http://schemas.microsoft.com/office/drawing/2014/main" id="{DA0EE598-ED63-4579-B119-532284919307}"/>
              </a:ext>
            </a:extLst>
          </p:cNvPr>
          <p:cNvSpPr>
            <a:spLocks noGrp="1"/>
          </p:cNvSpPr>
          <p:nvPr/>
        </p:nvSpPr>
        <p:spPr>
          <a:xfrm>
            <a:off x="3476625" y="2428875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STAGE 2</a:t>
            </a:r>
          </a:p>
        </p:txBody>
      </p:sp>
      <p:sp>
        <p:nvSpPr>
          <p:cNvPr id="10" name="stage-h-1">
            <a:extLst>
              <a:ext uri="{FF2B5EF4-FFF2-40B4-BE49-F238E27FC236}">
                <a16:creationId xmlns:a16="http://schemas.microsoft.com/office/drawing/2014/main" id="{A6CFD3CE-5B70-451F-8B27-107FB402E829}"/>
              </a:ext>
            </a:extLst>
          </p:cNvPr>
          <p:cNvSpPr>
            <a:spLocks noGrp="1"/>
          </p:cNvSpPr>
          <p:nvPr/>
        </p:nvSpPr>
        <p:spPr>
          <a:xfrm>
            <a:off x="3476625" y="3714750"/>
            <a:ext cx="2238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667"/>
          </a:bodyPr>
          <a:lstStyle/>
          <a:p>
            <a:pPr algn="l">
              <a:defRPr sz="18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Integration</a:t>
            </a:r>
          </a:p>
        </p:txBody>
      </p:sp>
      <p:sp>
        <p:nvSpPr>
          <p:cNvPr id="11" name="stage-b-1">
            <a:extLst>
              <a:ext uri="{FF2B5EF4-FFF2-40B4-BE49-F238E27FC236}">
                <a16:creationId xmlns:a16="http://schemas.microsoft.com/office/drawing/2014/main" id="{E24A6D35-7BB7-476E-BD8F-EF86FB554A2A}"/>
              </a:ext>
            </a:extLst>
          </p:cNvPr>
          <p:cNvSpPr>
            <a:spLocks noGrp="1"/>
          </p:cNvSpPr>
          <p:nvPr/>
        </p:nvSpPr>
        <p:spPr>
          <a:xfrm>
            <a:off x="3476625" y="4238625"/>
            <a:ext cx="2238375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Nmap and scanner adapters; parser tests</a:t>
            </a:r>
          </a:p>
        </p:txBody>
      </p:sp>
      <p:sp>
        <p:nvSpPr>
          <p:cNvPr id="12" name="dot-2">
            <a:extLst>
              <a:ext uri="{FF2B5EF4-FFF2-40B4-BE49-F238E27FC236}">
                <a16:creationId xmlns:a16="http://schemas.microsoft.com/office/drawing/2014/main" id="{30BBD661-7EC8-49D7-BFC1-383C1A20ABE4}"/>
              </a:ext>
            </a:extLst>
          </p:cNvPr>
          <p:cNvSpPr>
            <a:spLocks noGrp="1"/>
          </p:cNvSpPr>
          <p:nvPr/>
        </p:nvSpPr>
        <p:spPr>
          <a:xfrm>
            <a:off x="6238875" y="3028950"/>
            <a:ext cx="247650" cy="247650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tage-no-2">
            <a:extLst>
              <a:ext uri="{FF2B5EF4-FFF2-40B4-BE49-F238E27FC236}">
                <a16:creationId xmlns:a16="http://schemas.microsoft.com/office/drawing/2014/main" id="{751FD657-E59B-473D-B50B-ED4778A3632F}"/>
              </a:ext>
            </a:extLst>
          </p:cNvPr>
          <p:cNvSpPr>
            <a:spLocks noGrp="1"/>
          </p:cNvSpPr>
          <p:nvPr/>
        </p:nvSpPr>
        <p:spPr>
          <a:xfrm>
            <a:off x="6238875" y="2428875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STAGE 3</a:t>
            </a:r>
          </a:p>
        </p:txBody>
      </p:sp>
      <p:sp>
        <p:nvSpPr>
          <p:cNvPr id="14" name="stage-h-2">
            <a:extLst>
              <a:ext uri="{FF2B5EF4-FFF2-40B4-BE49-F238E27FC236}">
                <a16:creationId xmlns:a16="http://schemas.microsoft.com/office/drawing/2014/main" id="{2811AE34-AD1C-4F32-BC48-F7D5A21DE624}"/>
              </a:ext>
            </a:extLst>
          </p:cNvPr>
          <p:cNvSpPr>
            <a:spLocks noGrp="1"/>
          </p:cNvSpPr>
          <p:nvPr/>
        </p:nvSpPr>
        <p:spPr>
          <a:xfrm>
            <a:off x="6238875" y="3714750"/>
            <a:ext cx="2238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667"/>
          </a:bodyPr>
          <a:lstStyle/>
          <a:p>
            <a:pPr algn="l">
              <a:defRPr sz="18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Intelligence</a:t>
            </a:r>
          </a:p>
        </p:txBody>
      </p:sp>
      <p:sp>
        <p:nvSpPr>
          <p:cNvPr id="15" name="stage-b-2">
            <a:extLst>
              <a:ext uri="{FF2B5EF4-FFF2-40B4-BE49-F238E27FC236}">
                <a16:creationId xmlns:a16="http://schemas.microsoft.com/office/drawing/2014/main" id="{0727C899-1F08-4736-B69D-6FEA693457C3}"/>
              </a:ext>
            </a:extLst>
          </p:cNvPr>
          <p:cNvSpPr>
            <a:spLocks noGrp="1"/>
          </p:cNvSpPr>
          <p:nvPr/>
        </p:nvSpPr>
        <p:spPr>
          <a:xfrm>
            <a:off x="6238875" y="4238625"/>
            <a:ext cx="2238375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Risk baseline, ML ranker, explanations</a:t>
            </a:r>
          </a:p>
        </p:txBody>
      </p:sp>
      <p:sp>
        <p:nvSpPr>
          <p:cNvPr id="16" name="dot-3">
            <a:extLst>
              <a:ext uri="{FF2B5EF4-FFF2-40B4-BE49-F238E27FC236}">
                <a16:creationId xmlns:a16="http://schemas.microsoft.com/office/drawing/2014/main" id="{DEF0D546-1E06-40FE-9E9F-89ADD5314E00}"/>
              </a:ext>
            </a:extLst>
          </p:cNvPr>
          <p:cNvSpPr>
            <a:spLocks noGrp="1"/>
          </p:cNvSpPr>
          <p:nvPr/>
        </p:nvSpPr>
        <p:spPr>
          <a:xfrm>
            <a:off x="9001125" y="3028950"/>
            <a:ext cx="247650" cy="247650"/>
          </a:xfrm>
          <a:prstGeom prst="ellipse">
            <a:avLst/>
          </a:prstGeom>
          <a:solidFill>
            <a:srgbClr val="6DCBF4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tage-no-3">
            <a:extLst>
              <a:ext uri="{FF2B5EF4-FFF2-40B4-BE49-F238E27FC236}">
                <a16:creationId xmlns:a16="http://schemas.microsoft.com/office/drawing/2014/main" id="{A74540E7-1A5A-4F17-A95F-D9CC4DBAF1E1}"/>
              </a:ext>
            </a:extLst>
          </p:cNvPr>
          <p:cNvSpPr>
            <a:spLocks noGrp="1"/>
          </p:cNvSpPr>
          <p:nvPr/>
        </p:nvSpPr>
        <p:spPr>
          <a:xfrm>
            <a:off x="9001125" y="2428875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STAGE 4</a:t>
            </a:r>
          </a:p>
        </p:txBody>
      </p:sp>
      <p:sp>
        <p:nvSpPr>
          <p:cNvPr id="18" name="stage-h-3">
            <a:extLst>
              <a:ext uri="{FF2B5EF4-FFF2-40B4-BE49-F238E27FC236}">
                <a16:creationId xmlns:a16="http://schemas.microsoft.com/office/drawing/2014/main" id="{BC824CF0-E4C0-44B0-8782-4AF3E46FC04E}"/>
              </a:ext>
            </a:extLst>
          </p:cNvPr>
          <p:cNvSpPr>
            <a:spLocks noGrp="1"/>
          </p:cNvSpPr>
          <p:nvPr/>
        </p:nvSpPr>
        <p:spPr>
          <a:xfrm>
            <a:off x="9001125" y="3714750"/>
            <a:ext cx="2238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667"/>
          </a:bodyPr>
          <a:lstStyle/>
          <a:p>
            <a:pPr algn="l">
              <a:defRPr sz="18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19" name="stage-b-3">
            <a:extLst>
              <a:ext uri="{FF2B5EF4-FFF2-40B4-BE49-F238E27FC236}">
                <a16:creationId xmlns:a16="http://schemas.microsoft.com/office/drawing/2014/main" id="{1F5ED2CF-D65E-4C18-8040-2A00FA2DE241}"/>
              </a:ext>
            </a:extLst>
          </p:cNvPr>
          <p:cNvSpPr>
            <a:spLocks noGrp="1"/>
          </p:cNvSpPr>
          <p:nvPr/>
        </p:nvSpPr>
        <p:spPr>
          <a:xfrm>
            <a:off x="9001125" y="4238625"/>
            <a:ext cx="2238375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Authorized lab tests, metrics, report, demo</a:t>
            </a:r>
          </a:p>
        </p:txBody>
      </p:sp>
      <p:sp>
        <p:nvSpPr>
          <p:cNvPr id="20" name="stack">
            <a:extLst>
              <a:ext uri="{FF2B5EF4-FFF2-40B4-BE49-F238E27FC236}">
                <a16:creationId xmlns:a16="http://schemas.microsoft.com/office/drawing/2014/main" id="{AED031AF-A3FD-496D-8271-FC1828702543}"/>
              </a:ext>
            </a:extLst>
          </p:cNvPr>
          <p:cNvSpPr>
            <a:spLocks noGrp="1"/>
          </p:cNvSpPr>
          <p:nvPr/>
        </p:nvSpPr>
        <p:spPr>
          <a:xfrm>
            <a:off x="714375" y="5715000"/>
            <a:ext cx="10287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Suggested stack: React · FastAPI · PostgreSQL · Python ML · Docker · isolated vulnerable lab targets</a:t>
            </a:r>
          </a:p>
        </p:txBody>
      </p:sp>
    </p:spTree>
    <p:extLst>
      <p:ext uri="{BB962C8B-B14F-4D97-AF65-F5344CB8AC3E}">
        <p14:creationId xmlns:p14="http://schemas.microsoft.com/office/powerpoint/2010/main" val="15952845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-10">
            <a:extLst>
              <a:ext uri="{FF2B5EF4-FFF2-40B4-BE49-F238E27FC236}">
                <a16:creationId xmlns:a16="http://schemas.microsoft.com/office/drawing/2014/main" id="{87AB1A30-C81E-4D65-88E6-2B512A9E6C75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8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Success means faster review without losing analyst control</a:t>
            </a:r>
          </a:p>
        </p:txBody>
      </p:sp>
      <p:sp>
        <p:nvSpPr>
          <p:cNvPr id="2" name="page-10">
            <a:extLst>
              <a:ext uri="{FF2B5EF4-FFF2-40B4-BE49-F238E27FC236}">
                <a16:creationId xmlns:a16="http://schemas.microsoft.com/office/drawing/2014/main" id="{68331701-9AA0-4DDF-8F86-CC2945A21C8E}"/>
              </a:ext>
            </a:extLst>
          </p:cNvPr>
          <p:cNvSpPr>
            <a:spLocks noGrp="1"/>
          </p:cNvSpPr>
          <p:nvPr/>
        </p:nvSpPr>
        <p:spPr>
          <a:xfrm>
            <a:off x="11239500" y="6305550"/>
            <a:ext cx="52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r"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metric-h-0">
            <a:extLst>
              <a:ext uri="{FF2B5EF4-FFF2-40B4-BE49-F238E27FC236}">
                <a16:creationId xmlns:a16="http://schemas.microsoft.com/office/drawing/2014/main" id="{6621FA58-2D45-4866-84AF-393A4EFCCA2B}"/>
              </a:ext>
            </a:extLst>
          </p:cNvPr>
          <p:cNvSpPr>
            <a:spLocks noGrp="1"/>
          </p:cNvSpPr>
          <p:nvPr/>
        </p:nvSpPr>
        <p:spPr>
          <a:xfrm>
            <a:off x="400050" y="1524000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026"/>
          </a:bodyPr>
          <a:lstStyle/>
          <a:p>
            <a:pPr algn="l">
              <a:defRPr sz="19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Ranking quality</a:t>
            </a:r>
          </a:p>
        </p:txBody>
      </p:sp>
      <p:sp>
        <p:nvSpPr>
          <p:cNvPr id="4" name="metric-rule-0">
            <a:extLst>
              <a:ext uri="{FF2B5EF4-FFF2-40B4-BE49-F238E27FC236}">
                <a16:creationId xmlns:a16="http://schemas.microsoft.com/office/drawing/2014/main" id="{2DD1BE1C-F984-4FF8-B528-7D5563C367E9}"/>
              </a:ext>
            </a:extLst>
          </p:cNvPr>
          <p:cNvSpPr>
            <a:spLocks noGrp="1"/>
          </p:cNvSpPr>
          <p:nvPr/>
        </p:nvSpPr>
        <p:spPr>
          <a:xfrm>
            <a:off x="400050" y="2047875"/>
            <a:ext cx="4762500" cy="57150"/>
          </a:xfrm>
          <a:prstGeom prst="roundRect">
            <a:avLst>
              <a:gd name="adj" fmla="val 50000"/>
            </a:avLst>
          </a:prstGeom>
          <a:solidFill>
            <a:srgbClr val="6DCBF4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metric-b-0">
            <a:extLst>
              <a:ext uri="{FF2B5EF4-FFF2-40B4-BE49-F238E27FC236}">
                <a16:creationId xmlns:a16="http://schemas.microsoft.com/office/drawing/2014/main" id="{579E6892-CBA5-4384-8B13-59D072E8FF2A}"/>
              </a:ext>
            </a:extLst>
          </p:cNvPr>
          <p:cNvSpPr>
            <a:spLocks noGrp="1"/>
          </p:cNvSpPr>
          <p:nvPr/>
        </p:nvSpPr>
        <p:spPr>
          <a:xfrm>
            <a:off x="400050" y="2333625"/>
            <a:ext cx="4762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Top-k precision, nDCG, and agreement with expert labels</a:t>
            </a:r>
          </a:p>
        </p:txBody>
      </p:sp>
      <p:sp>
        <p:nvSpPr>
          <p:cNvPr id="6" name="metric-h-1">
            <a:extLst>
              <a:ext uri="{FF2B5EF4-FFF2-40B4-BE49-F238E27FC236}">
                <a16:creationId xmlns:a16="http://schemas.microsoft.com/office/drawing/2014/main" id="{AF77A61A-FBFF-41AC-935C-88A333FADC0F}"/>
              </a:ext>
            </a:extLst>
          </p:cNvPr>
          <p:cNvSpPr>
            <a:spLocks noGrp="1"/>
          </p:cNvSpPr>
          <p:nvPr/>
        </p:nvSpPr>
        <p:spPr>
          <a:xfrm>
            <a:off x="6115050" y="1524000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026"/>
          </a:bodyPr>
          <a:lstStyle/>
          <a:p>
            <a:pPr algn="l">
              <a:defRPr sz="19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Efficiency</a:t>
            </a:r>
          </a:p>
        </p:txBody>
      </p:sp>
      <p:sp>
        <p:nvSpPr>
          <p:cNvPr id="7" name="metric-rule-1">
            <a:extLst>
              <a:ext uri="{FF2B5EF4-FFF2-40B4-BE49-F238E27FC236}">
                <a16:creationId xmlns:a16="http://schemas.microsoft.com/office/drawing/2014/main" id="{FB3DC1F5-A602-4A16-A291-3777DA435F9C}"/>
              </a:ext>
            </a:extLst>
          </p:cNvPr>
          <p:cNvSpPr>
            <a:spLocks noGrp="1"/>
          </p:cNvSpPr>
          <p:nvPr/>
        </p:nvSpPr>
        <p:spPr>
          <a:xfrm>
            <a:off x="6115050" y="2047875"/>
            <a:ext cx="4762500" cy="57150"/>
          </a:xfrm>
          <a:prstGeom prst="roundRect">
            <a:avLst>
              <a:gd name="adj" fmla="val 50000"/>
            </a:avLst>
          </a:prstGeom>
          <a:solidFill>
            <a:srgbClr val="6DCBF4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metric-b-1">
            <a:extLst>
              <a:ext uri="{FF2B5EF4-FFF2-40B4-BE49-F238E27FC236}">
                <a16:creationId xmlns:a16="http://schemas.microsoft.com/office/drawing/2014/main" id="{426A37B9-B214-4DEB-8EB6-9764BB557C48}"/>
              </a:ext>
            </a:extLst>
          </p:cNvPr>
          <p:cNvSpPr>
            <a:spLocks noGrp="1"/>
          </p:cNvSpPr>
          <p:nvPr/>
        </p:nvSpPr>
        <p:spPr>
          <a:xfrm>
            <a:off x="6115050" y="2333625"/>
            <a:ext cx="4762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Time required to triage and produce an assessment plan</a:t>
            </a:r>
          </a:p>
        </p:txBody>
      </p:sp>
      <p:sp>
        <p:nvSpPr>
          <p:cNvPr id="9" name="metric-h-2">
            <a:extLst>
              <a:ext uri="{FF2B5EF4-FFF2-40B4-BE49-F238E27FC236}">
                <a16:creationId xmlns:a16="http://schemas.microsoft.com/office/drawing/2014/main" id="{89A51907-A9E6-4CAC-A772-1CF855B3CBE4}"/>
              </a:ext>
            </a:extLst>
          </p:cNvPr>
          <p:cNvSpPr>
            <a:spLocks noGrp="1"/>
          </p:cNvSpPr>
          <p:nvPr/>
        </p:nvSpPr>
        <p:spPr>
          <a:xfrm>
            <a:off x="400050" y="3476625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026"/>
          </a:bodyPr>
          <a:lstStyle/>
          <a:p>
            <a:pPr algn="l">
              <a:defRPr sz="19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Safety</a:t>
            </a:r>
          </a:p>
        </p:txBody>
      </p:sp>
      <p:sp>
        <p:nvSpPr>
          <p:cNvPr id="10" name="metric-rule-2">
            <a:extLst>
              <a:ext uri="{FF2B5EF4-FFF2-40B4-BE49-F238E27FC236}">
                <a16:creationId xmlns:a16="http://schemas.microsoft.com/office/drawing/2014/main" id="{AFF25819-8D12-4981-B97D-5694BD033C97}"/>
              </a:ext>
            </a:extLst>
          </p:cNvPr>
          <p:cNvSpPr>
            <a:spLocks noGrp="1"/>
          </p:cNvSpPr>
          <p:nvPr/>
        </p:nvSpPr>
        <p:spPr>
          <a:xfrm>
            <a:off x="400050" y="4000500"/>
            <a:ext cx="4762500" cy="57150"/>
          </a:xfrm>
          <a:prstGeom prst="roundRect">
            <a:avLst>
              <a:gd name="adj" fmla="val 50000"/>
            </a:avLst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metric-b-2">
            <a:extLst>
              <a:ext uri="{FF2B5EF4-FFF2-40B4-BE49-F238E27FC236}">
                <a16:creationId xmlns:a16="http://schemas.microsoft.com/office/drawing/2014/main" id="{4B3B0D13-BFFF-4916-83A9-1493B0F594FF}"/>
              </a:ext>
            </a:extLst>
          </p:cNvPr>
          <p:cNvSpPr>
            <a:spLocks noGrp="1"/>
          </p:cNvSpPr>
          <p:nvPr/>
        </p:nvSpPr>
        <p:spPr>
          <a:xfrm>
            <a:off x="400050" y="4286250"/>
            <a:ext cx="4762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Zero execution outside scope; every action approved and logged</a:t>
            </a:r>
          </a:p>
        </p:txBody>
      </p:sp>
      <p:sp>
        <p:nvSpPr>
          <p:cNvPr id="12" name="metric-h-3">
            <a:extLst>
              <a:ext uri="{FF2B5EF4-FFF2-40B4-BE49-F238E27FC236}">
                <a16:creationId xmlns:a16="http://schemas.microsoft.com/office/drawing/2014/main" id="{36590253-8DDD-4A31-A7A8-3A4D1DA53F1A}"/>
              </a:ext>
            </a:extLst>
          </p:cNvPr>
          <p:cNvSpPr>
            <a:spLocks noGrp="1"/>
          </p:cNvSpPr>
          <p:nvPr/>
        </p:nvSpPr>
        <p:spPr>
          <a:xfrm>
            <a:off x="6115050" y="3476625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026"/>
          </a:bodyPr>
          <a:lstStyle/>
          <a:p>
            <a:pPr algn="l">
              <a:defRPr sz="19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Usability</a:t>
            </a:r>
          </a:p>
        </p:txBody>
      </p:sp>
      <p:sp>
        <p:nvSpPr>
          <p:cNvPr id="13" name="metric-rule-3">
            <a:extLst>
              <a:ext uri="{FF2B5EF4-FFF2-40B4-BE49-F238E27FC236}">
                <a16:creationId xmlns:a16="http://schemas.microsoft.com/office/drawing/2014/main" id="{AAD95AC1-323D-4FC5-9351-866CC48F33A2}"/>
              </a:ext>
            </a:extLst>
          </p:cNvPr>
          <p:cNvSpPr>
            <a:spLocks noGrp="1"/>
          </p:cNvSpPr>
          <p:nvPr/>
        </p:nvSpPr>
        <p:spPr>
          <a:xfrm>
            <a:off x="6115050" y="4000500"/>
            <a:ext cx="4762500" cy="57150"/>
          </a:xfrm>
          <a:prstGeom prst="roundRect">
            <a:avLst>
              <a:gd name="adj" fmla="val 50000"/>
            </a:avLst>
          </a:prstGeom>
          <a:solidFill>
            <a:srgbClr val="6DCBF4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metric-b-3">
            <a:extLst>
              <a:ext uri="{FF2B5EF4-FFF2-40B4-BE49-F238E27FC236}">
                <a16:creationId xmlns:a16="http://schemas.microsoft.com/office/drawing/2014/main" id="{853B20D5-1211-4778-B48D-45102D82E708}"/>
              </a:ext>
            </a:extLst>
          </p:cNvPr>
          <p:cNvSpPr>
            <a:spLocks noGrp="1"/>
          </p:cNvSpPr>
          <p:nvPr/>
        </p:nvSpPr>
        <p:spPr>
          <a:xfrm>
            <a:off x="6115050" y="4286250"/>
            <a:ext cx="4762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Analyst rating of clarity, trust, and explanation quality</a:t>
            </a:r>
          </a:p>
        </p:txBody>
      </p:sp>
      <p:sp>
        <p:nvSpPr>
          <p:cNvPr id="15" name="close">
            <a:extLst>
              <a:ext uri="{FF2B5EF4-FFF2-40B4-BE49-F238E27FC236}">
                <a16:creationId xmlns:a16="http://schemas.microsoft.com/office/drawing/2014/main" id="{D92F37BE-A57E-4E8E-9BFF-9AEB5BD3A880}"/>
              </a:ext>
            </a:extLst>
          </p:cNvPr>
          <p:cNvSpPr>
            <a:spLocks noGrp="1"/>
          </p:cNvSpPr>
          <p:nvPr/>
        </p:nvSpPr>
        <p:spPr>
          <a:xfrm>
            <a:off x="400050" y="5857875"/>
            <a:ext cx="1085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506"/>
          </a:bodyPr>
          <a:lstStyle/>
          <a:p>
            <a:pPr algn="l"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Deliverable: a demonstrable, explainable, and ethically controlled AI assistant for vulnerability assessment.</a:t>
            </a:r>
          </a:p>
        </p:txBody>
      </p:sp>
    </p:spTree>
    <p:extLst>
      <p:ext uri="{BB962C8B-B14F-4D97-AF65-F5344CB8AC3E}">
        <p14:creationId xmlns:p14="http://schemas.microsoft.com/office/powerpoint/2010/main" val="73996763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734</Words>
  <Application>Microsoft Office PowerPoint</Application>
  <DocSecurity>0</DocSecurity>
  <PresentationFormat>Widescreen</PresentationFormat>
  <Paragraphs>136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Aniket Vishal Agrawal</cp:lastModifiedBy>
  <cp:revision>1</cp:revision>
  <dcterms:created xsi:type="dcterms:W3CDTF">2026-08-20T11:13:30Z</dcterms:created>
  <dcterms:modified xsi:type="dcterms:W3CDTF">2026-08-23T15:20:54Z</dcterms:modified>
</cp:coreProperties>
</file>